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 PRESENTER 1</a:t>
            </a:r>
          </a:p>
          <a:p/>
          <a:p>
            <a:r>
              <a:t>“This project investigates real-time moving-object interception with a Unitree G1 humanoid. The practical target is controlled palm contact with a moving plush bunny—not a verified fingered grasp. The system combines live perception, prediction, inverse kinematics, trajectory shaping, and robot-side safety. Physical visual tracking has been demonstrated. The optimized interception path is the final bounded hypothesis, and today’s live segment will show guarded tracking followed by one interception attempt.”</a:t>
            </a:r>
          </a:p>
          <a:p/>
          <a:p>
            <a:r>
              <a:t>The image is a real XR demonstration-data frame, not autonomous execution.</a:t>
            </a:r>
          </a:p>
          <a:p/>
          <a:p>
            <a:r>
              <a:t>SOURCE: docs/presentation/README.md; CURRENT_STATUS.md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 PRESENTER 1</a:t>
            </a:r>
          </a:p>
          <a:p/>
          <a:p>
            <a:r>
              <a:t>“Detection alone does not solve interception. The bunny continues moving while a frame is captured, transmitted, detected, fused with depth, converted into a three-dimensional target, and translated into arm motion. That makes end-to-end latency the central problem. The loop must see, locate, predict, move, and continuously verify. Representative dry runs reached about 57 camera frames per second and 49 to 51 YOLO inferences per second, so perception became fast enough to expose the next bottleneck: producing current, safe arm motion before the target moved away.”</a:t>
            </a:r>
          </a:p>
          <a:p/>
          <a:p>
            <a:r>
              <a:t>SOURCE: docs/presentation/TECHNICAL_EXPLAINER.md; EXPERIMENTS_AND_RESULTS.md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1:05 · PRESENTER 1</a:t>
            </a:r>
          </a:p>
          <a:p/>
          <a:p>
            <a:r>
              <a:t>“The project evolved through evidence rather than one fixed implementation. First, the team established a stable camera and detector. Next, guarded inverse kinematics moved the physical arm and tracked the bunny, but the response lagged. Simulation then increased experiment throughput, including 9,312 controller trials. A combined real-and-sim dataset made the VLA question testable. Thirty-six VLA attempts exposed problems in target semantics, consistency, and promotion safety. Those findings did not make the learning work irrelevant; they justified a narrower deterministic path based on fast local IK, smooth Ruckig execution, and the safety boundary already demonstrated on hardware.”</a:t>
            </a:r>
          </a:p>
          <a:p/>
          <a:p>
            <a:r>
              <a:t>[Handoff to Presenter 2]</a:t>
            </a:r>
          </a:p>
          <a:p/>
          <a:p>
            <a:r>
              <a:t>SOURCE: docs/presentation/PROJECT_JOURNEY.md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1:05 · PRESENTER 2</a:t>
            </a:r>
          </a:p>
          <a:p/>
          <a:p>
            <a:r>
              <a:t>“The live path separates perception from final hardware authority. On the GB10, the RealSense supplies color and depth, YOLO finds the bunny, RGB-depth fusion creates a three-dimensional point, and an alpha-beta filter estimates position and velocity. A plane-crossing predictor chooses an interception point and time. Pinocchio proposes a joint update; joint, collision, and tabletop checks validate it; Ruckig limits velocity, acceleration, and jerk. The Unitree G1 still owns the final command boundary through a robot-local 250-hertz safety controller. Isaac Sim, MuJoCo, dataset conversion, and VLA evaluation remain offline research infrastructure.”</a:t>
            </a:r>
          </a:p>
          <a:p/>
          <a:p>
            <a:r>
              <a:t>SOURCE: docs/presentation/TECHNICAL_EXPLAINER.md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1:10 · PRESENTER 2</a:t>
            </a:r>
          </a:p>
          <a:p/>
          <a:p>
            <a:r>
              <a:t>“The VLA program required a common data contract across simulation and real demonstrations. The latest canonical dataset contains 547 episodes and 32,051 frames: 480 generated in Isaac Sim and 67 captured through real XR teleoperation. Real data was deliberately filtered. Of 127 audited episodes, 97 were accepted for materialization and 67 passed the timing, motion, image, and contact contract. Train, validation, and sealed-test splits were separated by capture session to limit leakage risk. The frames shown here are real demonstration data; they illustrate the task and data collection, not autonomous success.”</a:t>
            </a:r>
          </a:p>
          <a:p/>
          <a:p>
            <a:r>
              <a:t>[Handoff to Presenter 3]</a:t>
            </a:r>
          </a:p>
          <a:p/>
          <a:p>
            <a:r>
              <a:t>SOURCE: docs/presentation/EXPERIMENTS_AND_RESULTS.md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1:15 · PRESENTER 3</a:t>
            </a:r>
          </a:p>
          <a:p/>
          <a:p>
            <a:r>
              <a:t>“The training store records 36 training or smoke attempts, and 32 produced action checkpoints. The largest improvements came from redefining the action, not extending optimization. Predicting absolute pose produced 0.12517 meters weighted right-hand error. Anchoring motion relative to the measured current pose reduced that error by 31.8 percent. The next experiment aligned the target with the state actually achieved after sensing, inference, transport, and actuation delay. Error fell again, from 0.08535 to 0.06695 meters—a further 21.6 percent. Longer training did not beat the original pilot. The critical discovery was that the model had been trained against the wrong moment in the robot’s motion.”</a:t>
            </a:r>
          </a:p>
          <a:p/>
          <a:p>
            <a:r>
              <a:t>SOURCE: docs/presentation/VLA_EXPERIMENT_HISTORY.md; VLA_TIMING_ALIGNMENT_RESULTS.md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 PRESENTER 3</a:t>
            </a:r>
          </a:p>
          <a:p/>
          <a:p>
            <a:r>
              <a:t>“The better metric was not enough to justify deployment. The selected model still lost to trivial hold-pose and mean-action baselines. On real validation, its predicted displacement was 2.14 times the target motion, and 8.8 percent of normalized outputs saturated. These failures indicate inconsistency and action-calibration problems that average displacement error alone can hide. The campaign therefore ended with zero robot-authorized checkpoints. This was a deliberate promotion decision: a policy needed to beat baselines, respond to visual input, maintain reasonable action scale, pass simulation, and survive the same deterministic safety gateway used by geometric control.”</a:t>
            </a:r>
          </a:p>
          <a:p/>
          <a:p>
            <a:r>
              <a:t>[Handoff to Presenter 4]</a:t>
            </a:r>
          </a:p>
          <a:p/>
          <a:p>
            <a:r>
              <a:t>SOURCE: docs/presentation/EXPERIMENTS_AND_RESULTS.md; VLA_EXPERIMENT_HISTORY.md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1:15 + 1:30 LIVE DEMO · PRESENTER 4 / OPERATOR</a:t>
            </a:r>
          </a:p>
          <a:p/>
          <a:p>
            <a:r>
              <a:t>“The deterministic pivot changed the control contract. The existing bounded global solver required a median 230.3 milliseconds per benchmark target. The new analytic local solver performs one bounded correction in 0.080 milliseconds. That is an approximately 2,879-times per-call latency gap, but it is not a claim that the complete robot became 2,879 times faster: one value is a full global solve and the other is a repeated local servo step. Within the local method itself, replacing a finite-difference Jacobian with Pinocchio’s analytic Jacobian reduced median compute from 0.136 to 0.080 milliseconds, or about 41 percent, while preserving the same one-step error reduction.”</a:t>
            </a:r>
          </a:p>
          <a:p/>
          <a:p>
            <a:r>
              <a:t>DEMO CUE: “The timing shift made a real-time geometric path plausible. The live demonstration will now show target acquisition, guarded tracking, and one bounded interception attempt.”</a:t>
            </a:r>
          </a:p>
          <a:p/>
          <a:p>
            <a:r>
              <a:t>DEMO: 20 seconds setup, 60 seconds execution, 10 seconds takeaway. Use assigned operator, spotter, and physical e-stop. If setup misses the rehearsed cutoff, use the real-frame sequence and continue.</a:t>
            </a:r>
          </a:p>
          <a:p/>
          <a:p>
            <a:r>
              <a:t>SOURCE: docs/G1_IK_BACKEND_EVALUATION.md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 PRESENTER 3</a:t>
            </a:r>
          </a:p>
          <a:p/>
          <a:p>
            <a:r>
              <a:t>“The live attempt does not remove the deterministic boundary. The controller first acquires a stable track, previews a reachable crossing, commits only after revalidation, and then holds or expires. Motion is rejected when RGB or depth becomes stale, the arm state is missing, a joint step is too large, collision or table clearance fails, or robot-local following and heartbeat checks fail. The 250-hertz robot controller owns the final release behavior. The demonstration should therefore be interpreted as one bounded physical test, not as proof that every moving-object case is solved.”</a:t>
            </a:r>
          </a:p>
          <a:p/>
          <a:p>
            <a:r>
              <a:t>Describe the actual demo outcome without converting one attempt into a success rate.</a:t>
            </a:r>
          </a:p>
          <a:p/>
          <a:p>
            <a:r>
              <a:t>SOURCE: docs/presentation/CURRENT_STATUS.md; TECHNICAL_EXPLAINER.md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0:55 · PRESENTER 2</a:t>
            </a:r>
          </a:p>
          <a:p/>
          <a:p>
            <a:r>
              <a:t>“The evidence classes remain separate. Live perception, guarded arm movement, and physical bunny tracking have been demonstrated. The dataset, VLA ablations, and analytic IK timing are offline evidence. Repeatable fast-path tracking, deliberate fault-response tests, and the bounded interception outcome remain physical validation tasks. The current configuration does not establish a fingered grasp, a standardized physical success rate, or an authorized learned policy. The remaining hypothesis is therefore precise: can the faster local controller preserve the earlier tracking quality while reducing enough end-to-end lag for safe interception?”</a:t>
            </a:r>
          </a:p>
          <a:p/>
          <a:p>
            <a:r>
              <a:t>[Handoff back to Presenter 1]</a:t>
            </a:r>
          </a:p>
          <a:p/>
          <a:p>
            <a:r>
              <a:t>SOURCE: docs/presentation/CURRENT_STATUS.md; EVIDENCE_INDEX.md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0:40 · PRESENTER 1</a:t>
            </a:r>
          </a:p>
          <a:p/>
          <a:p>
            <a:r>
              <a:t>“Three conclusions define the project. Physical tracking established that the guarded perception-to-motion loop was feasible. The VLA program corrected assumptions about how actions, time, and consistency should be represented, while strict promotion gates prevented an unreliable policy from reaching the robot. The analytic local controller then created a practical final hypothesis for real-time interception without removing deterministic safety. The project moved from asking whether the robot could follow the target to asking whether it could follow fast enough—with current evidence and bounded risk.”</a:t>
            </a:r>
          </a:p>
          <a:p/>
          <a:p>
            <a:r>
              <a:t>“Thank you. We are happy to take questions.”</a:t>
            </a:r>
          </a:p>
          <a:p/>
          <a:p>
            <a:r>
              <a:t>SOURCE: docs/presentation/README.md; CURRENT_STATUS.md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when a question asks how a named technology fits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to answer questions about what the 36 attempts actually 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to answer methodological questions about the approximately 2,879× per-call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when a question asks about research scale, simulation, or repository focus.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relevant answer first, then expand from the evidence appendix if requested.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pic>
        <p:nvPicPr>
          <p:cNvPr id="2" name="Picture 1" descr="real_xr_demo_105_mono.jpg"/>
          <p:cNvPicPr>
            <a:picLocks noChangeAspect="1"/>
          </p:cNvPicPr>
          <p:nvPr/>
        </p:nvPicPr>
        <p:blipFill>
          <a:blip r:embed="rId2"/>
          <a:srcRect l="29439" r="29439"/>
          <a:stretch>
            <a:fillRect/>
          </a:stretch>
        </p:blipFill>
        <p:spPr>
          <a:xfrm>
            <a:off x="7178040" y="0"/>
            <a:ext cx="5013655" cy="6858000"/>
          </a:xfrm>
          <a:prstGeom prst="rect">
            <a:avLst/>
          </a:prstGeom>
        </p:spPr>
      </p:pic>
      <p:sp>
        <p:nvSpPr>
          <p:cNvPr id="3" name="Rectangle 2"/>
          <p:cNvSpPr/>
          <p:nvPr/>
        </p:nvSpPr>
        <p:spPr>
          <a:xfrm>
            <a:off x="7178040" y="0"/>
            <a:ext cx="64008" cy="6858000"/>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530352"/>
            <a:ext cx="1792224" cy="329184"/>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580644"/>
            <a:ext cx="1645920" cy="201168"/>
          </a:xfrm>
          <a:prstGeom prst="rect">
            <a:avLst/>
          </a:prstGeom>
          <a:noFill/>
        </p:spPr>
        <p:txBody>
          <a:bodyPr wrap="square" anchor="t" lIns="0" rIns="0" tIns="0" bIns="0">
            <a:noAutofit/>
          </a:bodyPr>
          <a:lstStyle/>
          <a:p>
            <a:pPr algn="ctr">
              <a:lnSpc>
                <a:spcPct val="100000"/>
              </a:lnSpc>
              <a:spcAft>
                <a:spcPts val="0"/>
              </a:spcAft>
            </a:pPr>
            <a:r>
              <a:rPr sz="1250" b="1">
                <a:solidFill>
                  <a:srgbClr val="FFFFFF"/>
                </a:solidFill>
                <a:latin typeface="DIN Condensed"/>
              </a:rPr>
              <a:t>TRACKING DEMONSTRATED</a:t>
            </a:r>
          </a:p>
        </p:txBody>
      </p:sp>
      <p:sp>
        <p:nvSpPr>
          <p:cNvPr id="6" name="Rectangle 5"/>
          <p:cNvSpPr/>
          <p:nvPr/>
        </p:nvSpPr>
        <p:spPr>
          <a:xfrm>
            <a:off x="2615184" y="530352"/>
            <a:ext cx="2249424" cy="329184"/>
          </a:xfrm>
          <a:prstGeom prst="rect">
            <a:avLst/>
          </a:prstGeom>
          <a:solidFill>
            <a:srgbClr val="FFFFFF"/>
          </a:solidFill>
          <a:ln w="12700">
            <a:solidFill>
              <a:srgbClr val="64645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88336" y="580644"/>
            <a:ext cx="2103120" cy="201168"/>
          </a:xfrm>
          <a:prstGeom prst="rect">
            <a:avLst/>
          </a:prstGeom>
          <a:noFill/>
        </p:spPr>
        <p:txBody>
          <a:bodyPr wrap="square" anchor="t" lIns="0" rIns="0" tIns="0" bIns="0">
            <a:noAutofit/>
          </a:bodyPr>
          <a:lstStyle/>
          <a:p>
            <a:pPr algn="ctr">
              <a:lnSpc>
                <a:spcPct val="100000"/>
              </a:lnSpc>
              <a:spcAft>
                <a:spcPts val="0"/>
              </a:spcAft>
            </a:pPr>
            <a:r>
              <a:rPr sz="1250" b="1">
                <a:solidFill>
                  <a:srgbClr val="64645F"/>
                </a:solidFill>
                <a:latin typeface="DIN Condensed"/>
              </a:rPr>
              <a:t>INTERCEPTION ATTEMPT PENDING</a:t>
            </a:r>
          </a:p>
        </p:txBody>
      </p:sp>
      <p:sp>
        <p:nvSpPr>
          <p:cNvPr id="8" name="TextBox 7"/>
          <p:cNvSpPr txBox="1"/>
          <p:nvPr/>
        </p:nvSpPr>
        <p:spPr>
          <a:xfrm>
            <a:off x="658368" y="1243584"/>
            <a:ext cx="5989320" cy="2240280"/>
          </a:xfrm>
          <a:prstGeom prst="rect">
            <a:avLst/>
          </a:prstGeom>
          <a:noFill/>
        </p:spPr>
        <p:txBody>
          <a:bodyPr wrap="square" anchor="t" lIns="0" rIns="0" tIns="0" bIns="0">
            <a:noAutofit/>
          </a:bodyPr>
          <a:lstStyle/>
          <a:p>
            <a:pPr algn="l">
              <a:lnSpc>
                <a:spcPct val="96000"/>
              </a:lnSpc>
              <a:spcAft>
                <a:spcPts val="0"/>
              </a:spcAft>
            </a:pPr>
            <a:r>
              <a:rPr sz="4800" b="1">
                <a:solidFill>
                  <a:srgbClr val="0B0B0B"/>
                </a:solidFill>
                <a:latin typeface="Avenir Next"/>
              </a:rPr>
              <a:t>Real-Time
Moving-Object
Interception</a:t>
            </a:r>
          </a:p>
        </p:txBody>
      </p:sp>
      <p:sp>
        <p:nvSpPr>
          <p:cNvPr id="9" name="TextBox 8"/>
          <p:cNvSpPr txBox="1"/>
          <p:nvPr/>
        </p:nvSpPr>
        <p:spPr>
          <a:xfrm>
            <a:off x="676656" y="3538728"/>
            <a:ext cx="5394960" cy="475488"/>
          </a:xfrm>
          <a:prstGeom prst="rect">
            <a:avLst/>
          </a:prstGeom>
          <a:noFill/>
        </p:spPr>
        <p:txBody>
          <a:bodyPr wrap="square" anchor="t" lIns="0" rIns="0" tIns="0" bIns="0">
            <a:noAutofit/>
          </a:bodyPr>
          <a:lstStyle/>
          <a:p>
            <a:pPr algn="l">
              <a:lnSpc>
                <a:spcPct val="104000"/>
              </a:lnSpc>
              <a:spcAft>
                <a:spcPts val="0"/>
              </a:spcAft>
            </a:pPr>
            <a:r>
              <a:rPr sz="2900" b="1">
                <a:solidFill>
                  <a:srgbClr val="64645F"/>
                </a:solidFill>
                <a:latin typeface="Avenir Next"/>
              </a:rPr>
              <a:t>with a Unitree G1</a:t>
            </a:r>
          </a:p>
        </p:txBody>
      </p:sp>
      <p:sp>
        <p:nvSpPr>
          <p:cNvPr id="10" name="TextBox 9"/>
          <p:cNvSpPr txBox="1"/>
          <p:nvPr/>
        </p:nvSpPr>
        <p:spPr>
          <a:xfrm>
            <a:off x="676656" y="4270248"/>
            <a:ext cx="5669280" cy="749808"/>
          </a:xfrm>
          <a:prstGeom prst="rect">
            <a:avLst/>
          </a:prstGeom>
          <a:noFill/>
        </p:spPr>
        <p:txBody>
          <a:bodyPr wrap="square" anchor="t" lIns="0" rIns="0" tIns="0" bIns="0">
            <a:noAutofit/>
          </a:bodyPr>
          <a:lstStyle/>
          <a:p>
            <a:pPr algn="l">
              <a:lnSpc>
                <a:spcPct val="112000"/>
              </a:lnSpc>
              <a:spcAft>
                <a:spcPts val="0"/>
              </a:spcAft>
            </a:pPr>
            <a:r>
              <a:rPr sz="2000" b="0">
                <a:solidFill>
                  <a:srgbClr val="0B0B0B"/>
                </a:solidFill>
                <a:latin typeface="Avenir Next"/>
              </a:rPr>
              <a:t>From VLA experimentation to
safety-bounded geometric control</a:t>
            </a:r>
          </a:p>
        </p:txBody>
      </p:sp>
      <p:sp>
        <p:nvSpPr>
          <p:cNvPr id="11" name="TextBox 10"/>
          <p:cNvSpPr txBox="1"/>
          <p:nvPr/>
        </p:nvSpPr>
        <p:spPr>
          <a:xfrm>
            <a:off x="676656" y="5330952"/>
            <a:ext cx="5760720" cy="640080"/>
          </a:xfrm>
          <a:prstGeom prst="rect">
            <a:avLst/>
          </a:prstGeom>
          <a:noFill/>
        </p:spPr>
        <p:txBody>
          <a:bodyPr wrap="square" anchor="t" lIns="0" rIns="0" tIns="0" bIns="0">
            <a:noAutofit/>
          </a:bodyPr>
          <a:lstStyle/>
          <a:p>
            <a:pPr algn="l">
              <a:lnSpc>
                <a:spcPct val="108000"/>
              </a:lnSpc>
              <a:spcAft>
                <a:spcPts val="0"/>
              </a:spcAft>
            </a:pPr>
            <a:r>
              <a:rPr sz="1600" b="0">
                <a:solidFill>
                  <a:srgbClr val="0B0B0B"/>
                </a:solidFill>
                <a:latin typeface="Avenir Next"/>
              </a:rPr>
              <a:t>[Presenter 1 · School]  ·  [Presenter 2 · School]
[Presenter 3 · School]  ·  [Presenter 4 · School]</a:t>
            </a:r>
          </a:p>
        </p:txBody>
      </p:sp>
      <p:sp>
        <p:nvSpPr>
          <p:cNvPr id="12" name="TextBox 11"/>
          <p:cNvSpPr txBox="1"/>
          <p:nvPr/>
        </p:nvSpPr>
        <p:spPr>
          <a:xfrm>
            <a:off x="676656" y="6089904"/>
            <a:ext cx="5669280"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UC Santa Cruz Summer AI Academy</a:t>
            </a:r>
          </a:p>
        </p:txBody>
      </p:sp>
      <p:sp>
        <p:nvSpPr>
          <p:cNvPr id="13" name="TextBox 12"/>
          <p:cNvSpPr txBox="1"/>
          <p:nvPr/>
        </p:nvSpPr>
        <p:spPr>
          <a:xfrm>
            <a:off x="7424927" y="6355080"/>
            <a:ext cx="4407408" cy="228600"/>
          </a:xfrm>
          <a:prstGeom prst="rect">
            <a:avLst/>
          </a:prstGeom>
          <a:noFill/>
        </p:spPr>
        <p:txBody>
          <a:bodyPr wrap="square" anchor="t" lIns="0" rIns="0" tIns="0" bIns="0">
            <a:noAutofit/>
          </a:bodyPr>
          <a:lstStyle/>
          <a:p>
            <a:pPr algn="r">
              <a:lnSpc>
                <a:spcPct val="100000"/>
              </a:lnSpc>
              <a:spcAft>
                <a:spcPts val="0"/>
              </a:spcAft>
            </a:pPr>
            <a:r>
              <a:rPr sz="1250" b="1">
                <a:solidFill>
                  <a:srgbClr val="FFFFFF"/>
                </a:solidFill>
                <a:latin typeface="DIN Condensed"/>
              </a:rPr>
              <a:t>REAL XR DEMONSTRATION DATA</a:t>
            </a:r>
          </a:p>
        </p:txBody>
      </p:sp>
      <p:sp>
        <p:nvSpPr>
          <p:cNvPr id="14" name="TextBox 13"/>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500" b="1">
                <a:solidFill>
                  <a:srgbClr val="0B0B0B"/>
                </a:solidFill>
                <a:latin typeface="Avenir Next"/>
              </a:rPr>
              <a:t>Moving targets turn latency into the central problem</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02</a:t>
            </a:r>
          </a:p>
        </p:txBody>
      </p:sp>
      <p:sp>
        <p:nvSpPr>
          <p:cNvPr id="5" name="TextBox 4"/>
          <p:cNvSpPr txBox="1"/>
          <p:nvPr/>
        </p:nvSpPr>
        <p:spPr>
          <a:xfrm>
            <a:off x="713232" y="1399032"/>
            <a:ext cx="3886200" cy="22860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THE TARGET MOVES THROUGHOUT THE LOOP</a:t>
            </a:r>
          </a:p>
        </p:txBody>
      </p:sp>
      <p:cxnSp>
        <p:nvCxnSpPr>
          <p:cNvPr id="6" name="Connector 5"/>
          <p:cNvCxnSpPr/>
          <p:nvPr/>
        </p:nvCxnSpPr>
        <p:spPr>
          <a:xfrm>
            <a:off x="749808" y="1984248"/>
            <a:ext cx="10222992" cy="0"/>
          </a:xfrm>
          <a:prstGeom prst="line">
            <a:avLst/>
          </a:prstGeom>
          <a:ln w="17780">
            <a:solidFill>
              <a:srgbClr val="0B0B0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14400" y="1828800"/>
            <a:ext cx="310896" cy="310896"/>
          </a:xfrm>
          <a:prstGeom prst="ellipse">
            <a:avLst/>
          </a:prstGeom>
          <a:solidFill>
            <a:srgbClr val="F4F3E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834640" y="1828800"/>
            <a:ext cx="310896" cy="310896"/>
          </a:xfrm>
          <a:prstGeom prst="ellipse">
            <a:avLst/>
          </a:prstGeom>
          <a:solidFill>
            <a:srgbClr val="F4F3E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00600" y="1828800"/>
            <a:ext cx="310896" cy="310896"/>
          </a:xfrm>
          <a:prstGeom prst="ellipse">
            <a:avLst/>
          </a:prstGeom>
          <a:solidFill>
            <a:srgbClr val="F4F3E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1828800"/>
            <a:ext cx="310896" cy="310896"/>
          </a:xfrm>
          <a:prstGeom prst="ellipse">
            <a:avLst/>
          </a:prstGeom>
          <a:solidFill>
            <a:srgbClr val="F4F3E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32520" y="1828800"/>
            <a:ext cx="310896" cy="310896"/>
          </a:xfrm>
          <a:prstGeom prst="ellipse">
            <a:avLst/>
          </a:prstGeom>
          <a:solidFill>
            <a:srgbClr val="F4F3E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98480" y="1828800"/>
            <a:ext cx="310896" cy="310896"/>
          </a:xfrm>
          <a:prstGeom prst="ellipse">
            <a:avLst/>
          </a:prstGeom>
          <a:solidFill>
            <a:srgbClr val="0B0B0B"/>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261872" y="1984248"/>
            <a:ext cx="9272016" cy="0"/>
          </a:xfrm>
          <a:prstGeom prst="line">
            <a:avLst/>
          </a:prstGeom>
          <a:ln w="15240">
            <a:solidFill>
              <a:srgbClr val="0B0B0B"/>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10479024" y="1929384"/>
            <a:ext cx="109728" cy="109728"/>
          </a:xfrm>
          <a:prstGeom prst="triangl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61488"/>
            <a:ext cx="1508760"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SEE</a:t>
            </a:r>
          </a:p>
        </p:txBody>
      </p:sp>
      <p:sp>
        <p:nvSpPr>
          <p:cNvPr id="16" name="TextBox 15"/>
          <p:cNvSpPr txBox="1"/>
          <p:nvPr/>
        </p:nvSpPr>
        <p:spPr>
          <a:xfrm>
            <a:off x="749808" y="3154680"/>
            <a:ext cx="1645920" cy="310896"/>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RGB + depth</a:t>
            </a:r>
          </a:p>
        </p:txBody>
      </p:sp>
      <p:cxnSp>
        <p:nvCxnSpPr>
          <p:cNvPr id="17" name="Connector 16"/>
          <p:cNvCxnSpPr/>
          <p:nvPr/>
        </p:nvCxnSpPr>
        <p:spPr>
          <a:xfrm>
            <a:off x="2240279" y="2990088"/>
            <a:ext cx="457200"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2642615" y="2935224"/>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79" y="2761488"/>
            <a:ext cx="1508760"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LOCATE</a:t>
            </a:r>
          </a:p>
        </p:txBody>
      </p:sp>
      <p:sp>
        <p:nvSpPr>
          <p:cNvPr id="20" name="TextBox 19"/>
          <p:cNvSpPr txBox="1"/>
          <p:nvPr/>
        </p:nvSpPr>
        <p:spPr>
          <a:xfrm>
            <a:off x="2926079" y="3154680"/>
            <a:ext cx="1645920" cy="310896"/>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3D position</a:t>
            </a:r>
          </a:p>
        </p:txBody>
      </p:sp>
      <p:cxnSp>
        <p:nvCxnSpPr>
          <p:cNvPr id="21" name="Connector 20"/>
          <p:cNvCxnSpPr/>
          <p:nvPr/>
        </p:nvCxnSpPr>
        <p:spPr>
          <a:xfrm>
            <a:off x="4416552" y="2990088"/>
            <a:ext cx="457200"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4818888" y="2935224"/>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02352" y="2761488"/>
            <a:ext cx="1508760"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PREDICT</a:t>
            </a:r>
          </a:p>
        </p:txBody>
      </p:sp>
      <p:sp>
        <p:nvSpPr>
          <p:cNvPr id="24" name="TextBox 23"/>
          <p:cNvSpPr txBox="1"/>
          <p:nvPr/>
        </p:nvSpPr>
        <p:spPr>
          <a:xfrm>
            <a:off x="5102352" y="3154680"/>
            <a:ext cx="1645920" cy="310896"/>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crossing</a:t>
            </a:r>
          </a:p>
        </p:txBody>
      </p:sp>
      <p:cxnSp>
        <p:nvCxnSpPr>
          <p:cNvPr id="25" name="Connector 24"/>
          <p:cNvCxnSpPr/>
          <p:nvPr/>
        </p:nvCxnSpPr>
        <p:spPr>
          <a:xfrm>
            <a:off x="6592824" y="2990088"/>
            <a:ext cx="457200"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6995160" y="2935224"/>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624" y="2761488"/>
            <a:ext cx="1508760"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MOVE</a:t>
            </a:r>
          </a:p>
        </p:txBody>
      </p:sp>
      <p:sp>
        <p:nvSpPr>
          <p:cNvPr id="28" name="TextBox 27"/>
          <p:cNvSpPr txBox="1"/>
          <p:nvPr/>
        </p:nvSpPr>
        <p:spPr>
          <a:xfrm>
            <a:off x="7278624" y="3154680"/>
            <a:ext cx="1645920" cy="310896"/>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arm target</a:t>
            </a:r>
          </a:p>
        </p:txBody>
      </p:sp>
      <p:cxnSp>
        <p:nvCxnSpPr>
          <p:cNvPr id="29" name="Connector 28"/>
          <p:cNvCxnSpPr/>
          <p:nvPr/>
        </p:nvCxnSpPr>
        <p:spPr>
          <a:xfrm>
            <a:off x="8769096" y="2990088"/>
            <a:ext cx="457200"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9171432" y="2935224"/>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54896" y="2761488"/>
            <a:ext cx="1508760"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VERIFY</a:t>
            </a:r>
          </a:p>
        </p:txBody>
      </p:sp>
      <p:sp>
        <p:nvSpPr>
          <p:cNvPr id="32" name="TextBox 31"/>
          <p:cNvSpPr txBox="1"/>
          <p:nvPr/>
        </p:nvSpPr>
        <p:spPr>
          <a:xfrm>
            <a:off x="9454896" y="3154680"/>
            <a:ext cx="1645920" cy="310896"/>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fresh + safe</a:t>
            </a:r>
          </a:p>
        </p:txBody>
      </p:sp>
      <p:cxnSp>
        <p:nvCxnSpPr>
          <p:cNvPr id="33" name="Connector 32"/>
          <p:cNvCxnSpPr/>
          <p:nvPr/>
        </p:nvCxnSpPr>
        <p:spPr>
          <a:xfrm>
            <a:off x="749808" y="3895344"/>
            <a:ext cx="10222992" cy="0"/>
          </a:xfrm>
          <a:prstGeom prst="line">
            <a:avLst/>
          </a:prstGeom>
          <a:ln w="11430">
            <a:solidFill>
              <a:srgbClr val="D7D6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49808" y="4315968"/>
            <a:ext cx="4663440" cy="530352"/>
          </a:xfrm>
          <a:prstGeom prst="rect">
            <a:avLst/>
          </a:prstGeom>
          <a:noFill/>
        </p:spPr>
        <p:txBody>
          <a:bodyPr wrap="square" anchor="t" lIns="0" rIns="0" tIns="0" bIns="0">
            <a:noAutofit/>
          </a:bodyPr>
          <a:lstStyle/>
          <a:p>
            <a:pPr algn="l">
              <a:lnSpc>
                <a:spcPct val="104000"/>
              </a:lnSpc>
              <a:spcAft>
                <a:spcPts val="0"/>
              </a:spcAft>
            </a:pPr>
            <a:r>
              <a:rPr sz="3000" b="1">
                <a:solidFill>
                  <a:srgbClr val="0B0B0B"/>
                </a:solidFill>
                <a:latin typeface="Avenir Next"/>
              </a:rPr>
              <a:t>Controlled palm contact</a:t>
            </a:r>
          </a:p>
        </p:txBody>
      </p:sp>
      <p:sp>
        <p:nvSpPr>
          <p:cNvPr id="35" name="TextBox 34"/>
          <p:cNvSpPr txBox="1"/>
          <p:nvPr/>
        </p:nvSpPr>
        <p:spPr>
          <a:xfrm>
            <a:off x="5577840" y="4334256"/>
            <a:ext cx="5120640" cy="841248"/>
          </a:xfrm>
          <a:prstGeom prst="rect">
            <a:avLst/>
          </a:prstGeom>
          <a:noFill/>
        </p:spPr>
        <p:txBody>
          <a:bodyPr wrap="square" anchor="t" lIns="0" rIns="0" tIns="0" bIns="0">
            <a:noAutofit/>
          </a:bodyPr>
          <a:lstStyle/>
          <a:p>
            <a:pPr algn="l">
              <a:lnSpc>
                <a:spcPct val="112000"/>
              </a:lnSpc>
              <a:spcAft>
                <a:spcPts val="0"/>
              </a:spcAft>
            </a:pPr>
            <a:r>
              <a:rPr sz="2000" b="0">
                <a:solidFill>
                  <a:srgbClr val="64645F"/>
                </a:solidFill>
                <a:latin typeface="Avenir Next"/>
              </a:rPr>
              <a:t>must remain inside joint, collision,
tabletop, freshness, and operator limits.</a:t>
            </a:r>
          </a:p>
        </p:txBody>
      </p:sp>
      <p:sp>
        <p:nvSpPr>
          <p:cNvPr id="36" name="TextBox 35"/>
          <p:cNvSpPr txBox="1"/>
          <p:nvPr/>
        </p:nvSpPr>
        <p:spPr>
          <a:xfrm>
            <a:off x="749808" y="5413248"/>
            <a:ext cx="6537960" cy="566928"/>
          </a:xfrm>
          <a:prstGeom prst="rect">
            <a:avLst/>
          </a:prstGeom>
          <a:noFill/>
        </p:spPr>
        <p:txBody>
          <a:bodyPr wrap="square" anchor="t" lIns="0" rIns="0" tIns="0" bIns="0">
            <a:noAutofit/>
          </a:bodyPr>
          <a:lstStyle/>
          <a:p>
            <a:pPr algn="l">
              <a:lnSpc>
                <a:spcPct val="100000"/>
              </a:lnSpc>
              <a:spcAft>
                <a:spcPts val="0"/>
              </a:spcAft>
            </a:pPr>
            <a:r>
              <a:rPr sz="3800" b="1">
                <a:solidFill>
                  <a:srgbClr val="0B0B0B"/>
                </a:solidFill>
                <a:latin typeface="DIN Condensed"/>
              </a:rPr>
              <a:t>~57</a:t>
            </a:r>
            <a:r>
              <a:rPr sz="1700" b="0">
                <a:solidFill>
                  <a:srgbClr val="64645F"/>
                </a:solidFill>
                <a:latin typeface="Avenir Next"/>
              </a:rPr>
              <a:t> camera FPS     </a:t>
            </a:r>
            <a:r>
              <a:rPr sz="3800" b="1">
                <a:solidFill>
                  <a:srgbClr val="0B0B0B"/>
                </a:solidFill>
                <a:latin typeface="DIN Condensed"/>
              </a:rPr>
              <a:t>49–51</a:t>
            </a:r>
            <a:r>
              <a:rPr sz="1700" b="0">
                <a:solidFill>
                  <a:srgbClr val="64645F"/>
                </a:solidFill>
                <a:latin typeface="Avenir Next"/>
              </a:rPr>
              <a:t> YOLO FPS</a:t>
            </a:r>
          </a:p>
        </p:txBody>
      </p:sp>
      <p:sp>
        <p:nvSpPr>
          <p:cNvPr id="37" name="TextBox 36"/>
          <p:cNvSpPr txBox="1"/>
          <p:nvPr/>
        </p:nvSpPr>
        <p:spPr>
          <a:xfrm>
            <a:off x="7726679" y="5596128"/>
            <a:ext cx="3108960" cy="237744"/>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representative dry-run perception</a:t>
            </a:r>
          </a:p>
        </p:txBody>
      </p:sp>
      <p:sp>
        <p:nvSpPr>
          <p:cNvPr id="38" name="TextBox 37"/>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Representative July 27 dry runs; perception speed alone does not establish interception</a:t>
            </a:r>
          </a:p>
        </p:txBody>
      </p:sp>
      <p:sp>
        <p:nvSpPr>
          <p:cNvPr id="39" name="TextBox 38"/>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0B0B0B"/>
                </a:solidFill>
                <a:latin typeface="Avenir Next"/>
              </a:rPr>
              <a:t>Each result exposed the next bottleneck</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03</a:t>
            </a:r>
          </a:p>
        </p:txBody>
      </p:sp>
      <p:cxnSp>
        <p:nvCxnSpPr>
          <p:cNvPr id="5" name="Connector 4"/>
          <p:cNvCxnSpPr/>
          <p:nvPr/>
        </p:nvCxnSpPr>
        <p:spPr>
          <a:xfrm>
            <a:off x="1005840" y="1856231"/>
            <a:ext cx="10012680" cy="0"/>
          </a:xfrm>
          <a:prstGeom prst="line">
            <a:avLst/>
          </a:prstGeom>
          <a:ln w="20320">
            <a:solidFill>
              <a:srgbClr val="0B0B0B"/>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24127" y="1700784"/>
            <a:ext cx="310896" cy="310896"/>
          </a:xfrm>
          <a:prstGeom prst="ellipse">
            <a:avLst/>
          </a:prstGeom>
          <a:solidFill>
            <a:srgbClr val="F4F3EF"/>
          </a:solidFill>
          <a:ln w="1778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331720"/>
            <a:ext cx="1874519" cy="27432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VISION</a:t>
            </a:r>
          </a:p>
        </p:txBody>
      </p:sp>
      <p:sp>
        <p:nvSpPr>
          <p:cNvPr id="8" name="TextBox 7"/>
          <p:cNvSpPr txBox="1"/>
          <p:nvPr/>
        </p:nvSpPr>
        <p:spPr>
          <a:xfrm>
            <a:off x="749808" y="2743200"/>
            <a:ext cx="1901952" cy="658368"/>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60 FPS-class
camera + YOLO</a:t>
            </a:r>
          </a:p>
        </p:txBody>
      </p:sp>
      <p:sp>
        <p:nvSpPr>
          <p:cNvPr id="9" name="TextBox 8"/>
          <p:cNvSpPr txBox="1"/>
          <p:nvPr/>
        </p:nvSpPr>
        <p:spPr>
          <a:xfrm>
            <a:off x="749808" y="3584448"/>
            <a:ext cx="1874519"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see reliably</a:t>
            </a:r>
          </a:p>
        </p:txBody>
      </p:sp>
      <p:sp>
        <p:nvSpPr>
          <p:cNvPr id="10" name="Oval 9"/>
          <p:cNvSpPr/>
          <p:nvPr/>
        </p:nvSpPr>
        <p:spPr>
          <a:xfrm>
            <a:off x="3236975" y="1700784"/>
            <a:ext cx="310896" cy="310896"/>
          </a:xfrm>
          <a:prstGeom prst="ellipse">
            <a:avLst/>
          </a:prstGeom>
          <a:solidFill>
            <a:srgbClr val="F4F3EF"/>
          </a:solidFill>
          <a:ln w="1778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62656" y="2331720"/>
            <a:ext cx="1874519" cy="27432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PHYSICAL IK</a:t>
            </a:r>
          </a:p>
        </p:txBody>
      </p:sp>
      <p:sp>
        <p:nvSpPr>
          <p:cNvPr id="12" name="TextBox 11"/>
          <p:cNvSpPr txBox="1"/>
          <p:nvPr/>
        </p:nvSpPr>
        <p:spPr>
          <a:xfrm>
            <a:off x="2962656" y="2743200"/>
            <a:ext cx="1901952" cy="658368"/>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guarded tracking
demonstrated</a:t>
            </a:r>
          </a:p>
        </p:txBody>
      </p:sp>
      <p:sp>
        <p:nvSpPr>
          <p:cNvPr id="13" name="TextBox 12"/>
          <p:cNvSpPr txBox="1"/>
          <p:nvPr/>
        </p:nvSpPr>
        <p:spPr>
          <a:xfrm>
            <a:off x="2962656" y="3584448"/>
            <a:ext cx="1874519"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move safely</a:t>
            </a:r>
          </a:p>
        </p:txBody>
      </p:sp>
      <p:sp>
        <p:nvSpPr>
          <p:cNvPr id="14" name="Oval 13"/>
          <p:cNvSpPr/>
          <p:nvPr/>
        </p:nvSpPr>
        <p:spPr>
          <a:xfrm>
            <a:off x="5449824" y="1700784"/>
            <a:ext cx="310896" cy="310896"/>
          </a:xfrm>
          <a:prstGeom prst="ellipse">
            <a:avLst/>
          </a:prstGeom>
          <a:solidFill>
            <a:srgbClr val="F4F3EF"/>
          </a:solidFill>
          <a:ln w="1778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5504" y="2331720"/>
            <a:ext cx="1874519" cy="27432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SIM + DATA</a:t>
            </a:r>
          </a:p>
        </p:txBody>
      </p:sp>
      <p:sp>
        <p:nvSpPr>
          <p:cNvPr id="16" name="TextBox 15"/>
          <p:cNvSpPr txBox="1"/>
          <p:nvPr/>
        </p:nvSpPr>
        <p:spPr>
          <a:xfrm>
            <a:off x="5175504" y="2743200"/>
            <a:ext cx="1901952" cy="658368"/>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9,312 controller trials
547 episodes</a:t>
            </a:r>
          </a:p>
        </p:txBody>
      </p:sp>
      <p:sp>
        <p:nvSpPr>
          <p:cNvPr id="17" name="TextBox 16"/>
          <p:cNvSpPr txBox="1"/>
          <p:nvPr/>
        </p:nvSpPr>
        <p:spPr>
          <a:xfrm>
            <a:off x="5175504" y="3584448"/>
            <a:ext cx="1874519"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scale experiments</a:t>
            </a:r>
          </a:p>
        </p:txBody>
      </p:sp>
      <p:sp>
        <p:nvSpPr>
          <p:cNvPr id="18" name="Oval 17"/>
          <p:cNvSpPr/>
          <p:nvPr/>
        </p:nvSpPr>
        <p:spPr>
          <a:xfrm>
            <a:off x="7662672" y="1700784"/>
            <a:ext cx="310896" cy="310896"/>
          </a:xfrm>
          <a:prstGeom prst="ellipse">
            <a:avLst/>
          </a:prstGeom>
          <a:solidFill>
            <a:srgbClr val="F4F3EF"/>
          </a:solidFill>
          <a:ln w="1778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2331720"/>
            <a:ext cx="1874519" cy="27432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VLA</a:t>
            </a:r>
          </a:p>
        </p:txBody>
      </p:sp>
      <p:sp>
        <p:nvSpPr>
          <p:cNvPr id="20" name="TextBox 19"/>
          <p:cNvSpPr txBox="1"/>
          <p:nvPr/>
        </p:nvSpPr>
        <p:spPr>
          <a:xfrm>
            <a:off x="7388352" y="2743200"/>
            <a:ext cx="1901952" cy="658368"/>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36 attempts
0 authorized</a:t>
            </a:r>
          </a:p>
        </p:txBody>
      </p:sp>
      <p:sp>
        <p:nvSpPr>
          <p:cNvPr id="21" name="TextBox 20"/>
          <p:cNvSpPr txBox="1"/>
          <p:nvPr/>
        </p:nvSpPr>
        <p:spPr>
          <a:xfrm>
            <a:off x="7388352" y="3584448"/>
            <a:ext cx="1874519"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test learning</a:t>
            </a:r>
          </a:p>
        </p:txBody>
      </p:sp>
      <p:sp>
        <p:nvSpPr>
          <p:cNvPr id="22" name="Oval 21"/>
          <p:cNvSpPr/>
          <p:nvPr/>
        </p:nvSpPr>
        <p:spPr>
          <a:xfrm>
            <a:off x="9875520" y="1700784"/>
            <a:ext cx="310896" cy="310896"/>
          </a:xfrm>
          <a:prstGeom prst="ellipse">
            <a:avLst/>
          </a:prstGeom>
          <a:solidFill>
            <a:srgbClr val="0B0B0B"/>
          </a:solidFill>
          <a:ln w="1778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2331720"/>
            <a:ext cx="1874519"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REAL-TIME PIVOT</a:t>
            </a:r>
          </a:p>
        </p:txBody>
      </p:sp>
      <p:sp>
        <p:nvSpPr>
          <p:cNvPr id="24" name="TextBox 23"/>
          <p:cNvSpPr txBox="1"/>
          <p:nvPr/>
        </p:nvSpPr>
        <p:spPr>
          <a:xfrm>
            <a:off x="9601200" y="2743200"/>
            <a:ext cx="1901952" cy="658368"/>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local analytic IK
+ Ruckig</a:t>
            </a:r>
          </a:p>
        </p:txBody>
      </p:sp>
      <p:sp>
        <p:nvSpPr>
          <p:cNvPr id="25" name="TextBox 24"/>
          <p:cNvSpPr txBox="1"/>
          <p:nvPr/>
        </p:nvSpPr>
        <p:spPr>
          <a:xfrm>
            <a:off x="9601200" y="3584448"/>
            <a:ext cx="1874519" cy="256032"/>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attack latency</a:t>
            </a:r>
          </a:p>
        </p:txBody>
      </p:sp>
      <p:sp>
        <p:nvSpPr>
          <p:cNvPr id="26" name="Rectangle 25"/>
          <p:cNvSpPr/>
          <p:nvPr/>
        </p:nvSpPr>
        <p:spPr>
          <a:xfrm>
            <a:off x="749808" y="4370832"/>
            <a:ext cx="10287000" cy="1133856"/>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 y="4645152"/>
            <a:ext cx="4114800" cy="384048"/>
          </a:xfrm>
          <a:prstGeom prst="rect">
            <a:avLst/>
          </a:prstGeom>
          <a:noFill/>
        </p:spPr>
        <p:txBody>
          <a:bodyPr wrap="square" anchor="t" lIns="0" rIns="0" tIns="0" bIns="0">
            <a:noAutofit/>
          </a:bodyPr>
          <a:lstStyle/>
          <a:p>
            <a:pPr algn="l">
              <a:lnSpc>
                <a:spcPct val="104000"/>
              </a:lnSpc>
              <a:spcAft>
                <a:spcPts val="0"/>
              </a:spcAft>
            </a:pPr>
            <a:r>
              <a:rPr sz="2700" b="1">
                <a:solidFill>
                  <a:srgbClr val="FFFFFF"/>
                </a:solidFill>
                <a:latin typeface="Avenir Next"/>
              </a:rPr>
              <a:t>The project did not abandon learning.</a:t>
            </a:r>
          </a:p>
        </p:txBody>
      </p:sp>
      <p:sp>
        <p:nvSpPr>
          <p:cNvPr id="28" name="TextBox 27"/>
          <p:cNvSpPr txBox="1"/>
          <p:nvPr/>
        </p:nvSpPr>
        <p:spPr>
          <a:xfrm>
            <a:off x="5724144" y="4590288"/>
            <a:ext cx="4846320" cy="658368"/>
          </a:xfrm>
          <a:prstGeom prst="rect">
            <a:avLst/>
          </a:prstGeom>
          <a:noFill/>
        </p:spPr>
        <p:txBody>
          <a:bodyPr wrap="square" anchor="t" lIns="0" rIns="0" tIns="0" bIns="0">
            <a:noAutofit/>
          </a:bodyPr>
          <a:lstStyle/>
          <a:p>
            <a:pPr algn="l">
              <a:lnSpc>
                <a:spcPct val="112000"/>
              </a:lnSpc>
              <a:spcAft>
                <a:spcPts val="0"/>
              </a:spcAft>
            </a:pPr>
            <a:r>
              <a:rPr sz="2000" b="0">
                <a:solidFill>
                  <a:srgbClr val="FFFFFF"/>
                </a:solidFill>
                <a:latin typeface="Avenir Next"/>
              </a:rPr>
              <a:t>It used negative results to choose
the shortest defensible live path.</a:t>
            </a:r>
          </a:p>
        </p:txBody>
      </p:sp>
      <p:sp>
        <p:nvSpPr>
          <p:cNvPr id="29" name="TextBox 28"/>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Simulation evidence is not hardware validation</a:t>
            </a:r>
          </a:p>
        </p:txBody>
      </p:sp>
      <p:sp>
        <p:nvSpPr>
          <p:cNvPr id="30" name="TextBox 29"/>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0B0B0B"/>
                </a:solidFill>
                <a:latin typeface="Avenir Next"/>
              </a:rPr>
              <a:t>The robot retains final authority</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04</a:t>
            </a:r>
          </a:p>
        </p:txBody>
      </p:sp>
      <p:sp>
        <p:nvSpPr>
          <p:cNvPr id="5" name="TextBox 4"/>
          <p:cNvSpPr txBox="1"/>
          <p:nvPr/>
        </p:nvSpPr>
        <p:spPr>
          <a:xfrm>
            <a:off x="749808" y="1353312"/>
            <a:ext cx="3749039" cy="237744"/>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GB10 · PERCEPTION AND GEOMETRY</a:t>
            </a:r>
          </a:p>
        </p:txBody>
      </p:sp>
      <p:sp>
        <p:nvSpPr>
          <p:cNvPr id="6" name="Rectangle 5"/>
          <p:cNvSpPr/>
          <p:nvPr/>
        </p:nvSpPr>
        <p:spPr>
          <a:xfrm>
            <a:off x="749808" y="1783080"/>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892807"/>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D435I</a:t>
            </a:r>
          </a:p>
        </p:txBody>
      </p:sp>
      <p:sp>
        <p:nvSpPr>
          <p:cNvPr id="8" name="TextBox 7"/>
          <p:cNvSpPr txBox="1"/>
          <p:nvPr/>
        </p:nvSpPr>
        <p:spPr>
          <a:xfrm>
            <a:off x="841247" y="2221991"/>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RGB + depth</a:t>
            </a:r>
          </a:p>
        </p:txBody>
      </p:sp>
      <p:cxnSp>
        <p:nvCxnSpPr>
          <p:cNvPr id="9" name="Connector 8"/>
          <p:cNvCxnSpPr/>
          <p:nvPr/>
        </p:nvCxnSpPr>
        <p:spPr>
          <a:xfrm>
            <a:off x="2423160" y="218541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5400000">
            <a:off x="2633472" y="213055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1783080"/>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16936" y="1892807"/>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YOLO</a:t>
            </a:r>
          </a:p>
        </p:txBody>
      </p:sp>
      <p:sp>
        <p:nvSpPr>
          <p:cNvPr id="13" name="TextBox 12"/>
          <p:cNvSpPr txBox="1"/>
          <p:nvPr/>
        </p:nvSpPr>
        <p:spPr>
          <a:xfrm>
            <a:off x="2898648" y="2221991"/>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bunny box</a:t>
            </a:r>
          </a:p>
        </p:txBody>
      </p:sp>
      <p:cxnSp>
        <p:nvCxnSpPr>
          <p:cNvPr id="14" name="Connector 13"/>
          <p:cNvCxnSpPr/>
          <p:nvPr/>
        </p:nvCxnSpPr>
        <p:spPr>
          <a:xfrm>
            <a:off x="4480560" y="218541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4690872" y="213055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64608" y="1783080"/>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74336" y="1892807"/>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RGB–D</a:t>
            </a:r>
          </a:p>
        </p:txBody>
      </p:sp>
      <p:sp>
        <p:nvSpPr>
          <p:cNvPr id="18" name="TextBox 17"/>
          <p:cNvSpPr txBox="1"/>
          <p:nvPr/>
        </p:nvSpPr>
        <p:spPr>
          <a:xfrm>
            <a:off x="4956048" y="2221991"/>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3D point</a:t>
            </a:r>
          </a:p>
        </p:txBody>
      </p:sp>
      <p:cxnSp>
        <p:nvCxnSpPr>
          <p:cNvPr id="19" name="Connector 18"/>
          <p:cNvCxnSpPr/>
          <p:nvPr/>
        </p:nvCxnSpPr>
        <p:spPr>
          <a:xfrm>
            <a:off x="6537960" y="218541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6748272" y="213055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22008" y="1783080"/>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1892807"/>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α–β</a:t>
            </a:r>
          </a:p>
        </p:txBody>
      </p:sp>
      <p:sp>
        <p:nvSpPr>
          <p:cNvPr id="23" name="TextBox 22"/>
          <p:cNvSpPr txBox="1"/>
          <p:nvPr/>
        </p:nvSpPr>
        <p:spPr>
          <a:xfrm>
            <a:off x="7013448" y="2221991"/>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position + velocity</a:t>
            </a:r>
          </a:p>
        </p:txBody>
      </p:sp>
      <p:sp>
        <p:nvSpPr>
          <p:cNvPr id="24" name="Rectangle 23"/>
          <p:cNvSpPr/>
          <p:nvPr/>
        </p:nvSpPr>
        <p:spPr>
          <a:xfrm>
            <a:off x="749808" y="3291839"/>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3401568"/>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CROSSING</a:t>
            </a:r>
          </a:p>
        </p:txBody>
      </p:sp>
      <p:sp>
        <p:nvSpPr>
          <p:cNvPr id="26" name="TextBox 25"/>
          <p:cNvSpPr txBox="1"/>
          <p:nvPr/>
        </p:nvSpPr>
        <p:spPr>
          <a:xfrm>
            <a:off x="841247" y="3730752"/>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place + time</a:t>
            </a:r>
          </a:p>
        </p:txBody>
      </p:sp>
      <p:cxnSp>
        <p:nvCxnSpPr>
          <p:cNvPr id="27" name="Connector 26"/>
          <p:cNvCxnSpPr/>
          <p:nvPr/>
        </p:nvCxnSpPr>
        <p:spPr>
          <a:xfrm>
            <a:off x="2423160" y="369417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2633472" y="363931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07208" y="3291839"/>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16936" y="3401568"/>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PINOCCHIO</a:t>
            </a:r>
          </a:p>
        </p:txBody>
      </p:sp>
      <p:sp>
        <p:nvSpPr>
          <p:cNvPr id="31" name="TextBox 30"/>
          <p:cNvSpPr txBox="1"/>
          <p:nvPr/>
        </p:nvSpPr>
        <p:spPr>
          <a:xfrm>
            <a:off x="2898648" y="3730752"/>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joint update</a:t>
            </a:r>
          </a:p>
        </p:txBody>
      </p:sp>
      <p:cxnSp>
        <p:nvCxnSpPr>
          <p:cNvPr id="32" name="Connector 31"/>
          <p:cNvCxnSpPr/>
          <p:nvPr/>
        </p:nvCxnSpPr>
        <p:spPr>
          <a:xfrm>
            <a:off x="4480560" y="369417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5400000">
            <a:off x="4690872" y="363931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64608" y="3291839"/>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74336" y="3401568"/>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CHECKS</a:t>
            </a:r>
          </a:p>
        </p:txBody>
      </p:sp>
      <p:sp>
        <p:nvSpPr>
          <p:cNvPr id="36" name="TextBox 35"/>
          <p:cNvSpPr txBox="1"/>
          <p:nvPr/>
        </p:nvSpPr>
        <p:spPr>
          <a:xfrm>
            <a:off x="4956048" y="3730752"/>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joint · collision · table</a:t>
            </a:r>
          </a:p>
        </p:txBody>
      </p:sp>
      <p:cxnSp>
        <p:nvCxnSpPr>
          <p:cNvPr id="37" name="Connector 36"/>
          <p:cNvCxnSpPr/>
          <p:nvPr/>
        </p:nvCxnSpPr>
        <p:spPr>
          <a:xfrm>
            <a:off x="6537960" y="3694176"/>
            <a:ext cx="26517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5400000">
            <a:off x="6748272" y="3639312"/>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22008" y="3291839"/>
            <a:ext cx="1627632" cy="804672"/>
          </a:xfrm>
          <a:prstGeom prst="rect">
            <a:avLst/>
          </a:prstGeom>
          <a:solidFill>
            <a:srgbClr val="FFFFFF"/>
          </a:solidFill>
          <a:ln w="1397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31736" y="3401568"/>
            <a:ext cx="1408176"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RUCKIG</a:t>
            </a:r>
          </a:p>
        </p:txBody>
      </p:sp>
      <p:sp>
        <p:nvSpPr>
          <p:cNvPr id="41" name="TextBox 40"/>
          <p:cNvSpPr txBox="1"/>
          <p:nvPr/>
        </p:nvSpPr>
        <p:spPr>
          <a:xfrm>
            <a:off x="7013448" y="3730752"/>
            <a:ext cx="1444752" cy="210312"/>
          </a:xfrm>
          <a:prstGeom prst="rect">
            <a:avLst/>
          </a:prstGeom>
          <a:noFill/>
        </p:spPr>
        <p:txBody>
          <a:bodyPr wrap="square" anchor="t" lIns="0" rIns="0" tIns="0" bIns="0">
            <a:noAutofit/>
          </a:bodyPr>
          <a:lstStyle/>
          <a:p>
            <a:pPr algn="ctr">
              <a:lnSpc>
                <a:spcPct val="100000"/>
              </a:lnSpc>
              <a:spcAft>
                <a:spcPts val="0"/>
              </a:spcAft>
            </a:pPr>
            <a:r>
              <a:rPr sz="1080" b="1">
                <a:solidFill>
                  <a:srgbClr val="64645F"/>
                </a:solidFill>
                <a:latin typeface="Avenir Next"/>
              </a:rPr>
              <a:t>smooth motion</a:t>
            </a:r>
          </a:p>
        </p:txBody>
      </p:sp>
      <p:cxnSp>
        <p:nvCxnSpPr>
          <p:cNvPr id="42" name="Connector 41"/>
          <p:cNvCxnSpPr/>
          <p:nvPr/>
        </p:nvCxnSpPr>
        <p:spPr>
          <a:xfrm>
            <a:off x="8065008" y="2185416"/>
            <a:ext cx="576072" cy="1426464"/>
          </a:xfrm>
          <a:prstGeom prst="line">
            <a:avLst/>
          </a:prstGeom>
          <a:ln w="17780">
            <a:solidFill>
              <a:srgbClr val="0B0B0B"/>
            </a:solidFill>
          </a:ln>
        </p:spPr>
        <p:style>
          <a:lnRef idx="2">
            <a:schemeClr val="accent1"/>
          </a:lnRef>
          <a:fillRef idx="0">
            <a:schemeClr val="accent1"/>
          </a:fillRef>
          <a:effectRef idx="1">
            <a:schemeClr val="accent1"/>
          </a:effectRef>
          <a:fontRef idx="minor">
            <a:schemeClr val="tx1"/>
          </a:fontRef>
        </p:style>
      </p:cxnSp>
      <p:sp>
        <p:nvSpPr>
          <p:cNvPr id="43" name="Isosceles Triangle 42"/>
          <p:cNvSpPr/>
          <p:nvPr/>
        </p:nvSpPr>
        <p:spPr>
          <a:xfrm rot="10800000">
            <a:off x="8586215" y="3557016"/>
            <a:ext cx="109728" cy="109728"/>
          </a:xfrm>
          <a:prstGeom prst="triangl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42248" y="1627632"/>
            <a:ext cx="2331720" cy="3246120"/>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98280" y="1938528"/>
            <a:ext cx="1810512" cy="256032"/>
          </a:xfrm>
          <a:prstGeom prst="rect">
            <a:avLst/>
          </a:prstGeom>
          <a:noFill/>
        </p:spPr>
        <p:txBody>
          <a:bodyPr wrap="square" anchor="t" lIns="0" rIns="0" tIns="0" bIns="0">
            <a:noAutofit/>
          </a:bodyPr>
          <a:lstStyle/>
          <a:p>
            <a:pPr algn="ctr">
              <a:lnSpc>
                <a:spcPct val="100000"/>
              </a:lnSpc>
              <a:spcAft>
                <a:spcPts val="0"/>
              </a:spcAft>
            </a:pPr>
            <a:r>
              <a:rPr sz="1400" b="1">
                <a:solidFill>
                  <a:srgbClr val="D7D6CF"/>
                </a:solidFill>
                <a:latin typeface="DIN Condensed"/>
              </a:rPr>
              <a:t>UNITREE G1</a:t>
            </a:r>
          </a:p>
        </p:txBody>
      </p:sp>
      <p:sp>
        <p:nvSpPr>
          <p:cNvPr id="46" name="TextBox 45"/>
          <p:cNvSpPr txBox="1"/>
          <p:nvPr/>
        </p:nvSpPr>
        <p:spPr>
          <a:xfrm>
            <a:off x="8979408" y="2523744"/>
            <a:ext cx="2039112" cy="658368"/>
          </a:xfrm>
          <a:prstGeom prst="rect">
            <a:avLst/>
          </a:prstGeom>
          <a:noFill/>
        </p:spPr>
        <p:txBody>
          <a:bodyPr wrap="none" anchor="t" lIns="0" rIns="0" tIns="0" bIns="0">
            <a:noAutofit/>
          </a:bodyPr>
          <a:lstStyle/>
          <a:p>
            <a:pPr algn="ctr">
              <a:lnSpc>
                <a:spcPct val="90000"/>
              </a:lnSpc>
              <a:spcAft>
                <a:spcPts val="0"/>
              </a:spcAft>
            </a:pPr>
            <a:r>
              <a:rPr sz="4600" b="1">
                <a:solidFill>
                  <a:srgbClr val="FFFFFF"/>
                </a:solidFill>
                <a:latin typeface="DIN Condensed"/>
              </a:rPr>
              <a:t>250 Hz</a:t>
            </a:r>
          </a:p>
        </p:txBody>
      </p:sp>
      <p:sp>
        <p:nvSpPr>
          <p:cNvPr id="47" name="TextBox 46"/>
          <p:cNvSpPr txBox="1"/>
          <p:nvPr/>
        </p:nvSpPr>
        <p:spPr>
          <a:xfrm>
            <a:off x="9098280" y="3273552"/>
            <a:ext cx="1810512" cy="594360"/>
          </a:xfrm>
          <a:prstGeom prst="rect">
            <a:avLst/>
          </a:prstGeom>
          <a:noFill/>
        </p:spPr>
        <p:txBody>
          <a:bodyPr wrap="square" anchor="t" lIns="0" rIns="0" tIns="0" bIns="0">
            <a:noAutofit/>
          </a:bodyPr>
          <a:lstStyle/>
          <a:p>
            <a:pPr algn="ctr">
              <a:lnSpc>
                <a:spcPct val="105000"/>
              </a:lnSpc>
              <a:spcAft>
                <a:spcPts val="0"/>
              </a:spcAft>
            </a:pPr>
            <a:r>
              <a:rPr sz="1700" b="1">
                <a:solidFill>
                  <a:srgbClr val="FFFFFF"/>
                </a:solidFill>
                <a:latin typeface="Avenir Next"/>
              </a:rPr>
              <a:t>robot-local
safety controller</a:t>
            </a:r>
          </a:p>
        </p:txBody>
      </p:sp>
      <p:sp>
        <p:nvSpPr>
          <p:cNvPr id="48" name="TextBox 47"/>
          <p:cNvSpPr txBox="1"/>
          <p:nvPr/>
        </p:nvSpPr>
        <p:spPr>
          <a:xfrm>
            <a:off x="9070848" y="4133087"/>
            <a:ext cx="1892807" cy="502920"/>
          </a:xfrm>
          <a:prstGeom prst="rect">
            <a:avLst/>
          </a:prstGeom>
          <a:noFill/>
        </p:spPr>
        <p:txBody>
          <a:bodyPr wrap="square" anchor="t" lIns="0" rIns="0" tIns="0" bIns="0">
            <a:noAutofit/>
          </a:bodyPr>
          <a:lstStyle/>
          <a:p>
            <a:pPr algn="ctr">
              <a:lnSpc>
                <a:spcPct val="100000"/>
              </a:lnSpc>
              <a:spcAft>
                <a:spcPts val="0"/>
              </a:spcAft>
            </a:pPr>
            <a:r>
              <a:rPr sz="1100" b="1">
                <a:solidFill>
                  <a:srgbClr val="D7D6CF"/>
                </a:solidFill>
                <a:latin typeface="Avenir Next"/>
              </a:rPr>
              <a:t>Only this process publishes
Unitree arm commands.</a:t>
            </a:r>
          </a:p>
        </p:txBody>
      </p:sp>
      <p:sp>
        <p:nvSpPr>
          <p:cNvPr id="49" name="Rectangle 48"/>
          <p:cNvSpPr/>
          <p:nvPr/>
        </p:nvSpPr>
        <p:spPr>
          <a:xfrm>
            <a:off x="749808" y="5138928"/>
            <a:ext cx="10424160" cy="594360"/>
          </a:xfrm>
          <a:prstGeom prst="rect">
            <a:avLst/>
          </a:prstGeom>
          <a:noFill/>
          <a:ln w="12700">
            <a:solidFill>
              <a:srgbClr val="64645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5321808"/>
            <a:ext cx="1572768" cy="201168"/>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OFFLINE RESEARCH</a:t>
            </a:r>
          </a:p>
        </p:txBody>
      </p:sp>
      <p:sp>
        <p:nvSpPr>
          <p:cNvPr id="51" name="TextBox 50"/>
          <p:cNvSpPr txBox="1"/>
          <p:nvPr/>
        </p:nvSpPr>
        <p:spPr>
          <a:xfrm>
            <a:off x="2743200" y="5303520"/>
            <a:ext cx="8046720" cy="237744"/>
          </a:xfrm>
          <a:prstGeom prst="rect">
            <a:avLst/>
          </a:prstGeom>
          <a:noFill/>
        </p:spPr>
        <p:txBody>
          <a:bodyPr wrap="square" anchor="t" lIns="0" rIns="0" tIns="0" bIns="0">
            <a:noAutofit/>
          </a:bodyPr>
          <a:lstStyle/>
          <a:p>
            <a:pPr algn="l">
              <a:lnSpc>
                <a:spcPct val="108000"/>
              </a:lnSpc>
              <a:spcAft>
                <a:spcPts val="0"/>
              </a:spcAft>
            </a:pPr>
            <a:r>
              <a:rPr sz="1550" b="0">
                <a:solidFill>
                  <a:srgbClr val="64645F"/>
                </a:solidFill>
                <a:latin typeface="Avenir Next"/>
              </a:rPr>
              <a:t>Dual RTX 3090 · Isaac Sim · MuJoCo/MJX · RLDS/TFDS · UniFoLM-VLA evaluation</a:t>
            </a:r>
          </a:p>
        </p:txBody>
      </p:sp>
      <p:sp>
        <p:nvSpPr>
          <p:cNvPr id="52" name="TextBox 51"/>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No learned or Cartesian proposal publishes directly to the motors</a:t>
            </a:r>
          </a:p>
        </p:txBody>
      </p:sp>
      <p:sp>
        <p:nvSpPr>
          <p:cNvPr id="53" name="TextBox 52"/>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A sim-to-real dataset made the VLA question testable</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05</a:t>
            </a:r>
          </a:p>
        </p:txBody>
      </p:sp>
      <p:pic>
        <p:nvPicPr>
          <p:cNvPr id="5" name="Picture 4" descr="real_xr_demo_060_mono.jpg"/>
          <p:cNvPicPr>
            <a:picLocks noChangeAspect="1"/>
          </p:cNvPicPr>
          <p:nvPr/>
        </p:nvPicPr>
        <p:blipFill>
          <a:blip r:embed="rId2"/>
          <a:srcRect l="9665" r="9665"/>
          <a:stretch>
            <a:fillRect/>
          </a:stretch>
        </p:blipFill>
        <p:spPr>
          <a:xfrm>
            <a:off x="749808" y="1417320"/>
            <a:ext cx="2688336" cy="1874519"/>
          </a:xfrm>
          <a:prstGeom prst="rect">
            <a:avLst/>
          </a:prstGeom>
        </p:spPr>
      </p:pic>
      <p:pic>
        <p:nvPicPr>
          <p:cNvPr id="6" name="Picture 5" descr="real_xr_demo_105_mono.jpg"/>
          <p:cNvPicPr>
            <a:picLocks noChangeAspect="1"/>
          </p:cNvPicPr>
          <p:nvPr/>
        </p:nvPicPr>
        <p:blipFill>
          <a:blip r:embed="rId3"/>
          <a:srcRect l="9665" r="9665"/>
          <a:stretch>
            <a:fillRect/>
          </a:stretch>
        </p:blipFill>
        <p:spPr>
          <a:xfrm>
            <a:off x="3621024" y="1417320"/>
            <a:ext cx="2688336" cy="1874519"/>
          </a:xfrm>
          <a:prstGeom prst="rect">
            <a:avLst/>
          </a:prstGeom>
        </p:spPr>
      </p:pic>
      <p:pic>
        <p:nvPicPr>
          <p:cNvPr id="7" name="Picture 6" descr="real_xr_demo_150_mono.jpg"/>
          <p:cNvPicPr>
            <a:picLocks noChangeAspect="1"/>
          </p:cNvPicPr>
          <p:nvPr/>
        </p:nvPicPr>
        <p:blipFill>
          <a:blip r:embed="rId4"/>
          <a:srcRect l="9665" r="9665"/>
          <a:stretch>
            <a:fillRect/>
          </a:stretch>
        </p:blipFill>
        <p:spPr>
          <a:xfrm>
            <a:off x="6492240" y="1417320"/>
            <a:ext cx="2688336" cy="1874519"/>
          </a:xfrm>
          <a:prstGeom prst="rect">
            <a:avLst/>
          </a:prstGeom>
        </p:spPr>
      </p:pic>
      <p:sp>
        <p:nvSpPr>
          <p:cNvPr id="8" name="TextBox 7"/>
          <p:cNvSpPr txBox="1"/>
          <p:nvPr/>
        </p:nvSpPr>
        <p:spPr>
          <a:xfrm>
            <a:off x="749808" y="3419856"/>
            <a:ext cx="8503920" cy="219456"/>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REAL XR DEMONSTRATION DATA · APPROACH SEQUENCE</a:t>
            </a:r>
          </a:p>
        </p:txBody>
      </p:sp>
      <p:sp>
        <p:nvSpPr>
          <p:cNvPr id="9" name="TextBox 8"/>
          <p:cNvSpPr txBox="1"/>
          <p:nvPr/>
        </p:nvSpPr>
        <p:spPr>
          <a:xfrm>
            <a:off x="749808" y="3913632"/>
            <a:ext cx="10012680" cy="658368"/>
          </a:xfrm>
          <a:prstGeom prst="rect">
            <a:avLst/>
          </a:prstGeom>
          <a:noFill/>
        </p:spPr>
        <p:txBody>
          <a:bodyPr wrap="square" anchor="t" lIns="0" rIns="0" tIns="0" bIns="0">
            <a:noAutofit/>
          </a:bodyPr>
          <a:lstStyle/>
          <a:p>
            <a:pPr algn="l">
              <a:lnSpc>
                <a:spcPct val="100000"/>
              </a:lnSpc>
              <a:spcAft>
                <a:spcPts val="0"/>
              </a:spcAft>
            </a:pPr>
            <a:r>
              <a:rPr sz="5600" b="1">
                <a:solidFill>
                  <a:srgbClr val="0B0B0B"/>
                </a:solidFill>
                <a:latin typeface="DIN Condensed"/>
              </a:rPr>
              <a:t>480</a:t>
            </a:r>
            <a:r>
              <a:rPr sz="2100" b="0">
                <a:solidFill>
                  <a:srgbClr val="64645F"/>
                </a:solidFill>
                <a:latin typeface="Avenir Next"/>
              </a:rPr>
              <a:t> simulation  +  </a:t>
            </a:r>
            <a:r>
              <a:rPr sz="5600" b="1">
                <a:solidFill>
                  <a:srgbClr val="0B0B0B"/>
                </a:solidFill>
                <a:latin typeface="DIN Condensed"/>
              </a:rPr>
              <a:t>67</a:t>
            </a:r>
            <a:r>
              <a:rPr sz="2100" b="0">
                <a:solidFill>
                  <a:srgbClr val="64645F"/>
                </a:solidFill>
                <a:latin typeface="Avenir Next"/>
              </a:rPr>
              <a:t> real  =  </a:t>
            </a:r>
            <a:r>
              <a:rPr sz="5600" b="1">
                <a:solidFill>
                  <a:srgbClr val="0B0B0B"/>
                </a:solidFill>
                <a:latin typeface="DIN Condensed"/>
              </a:rPr>
              <a:t>547</a:t>
            </a:r>
            <a:r>
              <a:rPr sz="2100" b="0">
                <a:solidFill>
                  <a:srgbClr val="64645F"/>
                </a:solidFill>
                <a:latin typeface="Avenir Next"/>
              </a:rPr>
              <a:t> episodes</a:t>
            </a:r>
          </a:p>
        </p:txBody>
      </p:sp>
      <p:cxnSp>
        <p:nvCxnSpPr>
          <p:cNvPr id="10" name="Connector 9"/>
          <p:cNvCxnSpPr/>
          <p:nvPr/>
        </p:nvCxnSpPr>
        <p:spPr>
          <a:xfrm>
            <a:off x="749808" y="4736592"/>
            <a:ext cx="10222992" cy="0"/>
          </a:xfrm>
          <a:prstGeom prst="line">
            <a:avLst/>
          </a:prstGeom>
          <a:ln w="11430">
            <a:solidFill>
              <a:srgbClr val="D7D6C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5047488"/>
            <a:ext cx="731520" cy="438912"/>
          </a:xfrm>
          <a:prstGeom prst="rect">
            <a:avLst/>
          </a:prstGeom>
          <a:noFill/>
        </p:spPr>
        <p:txBody>
          <a:bodyPr wrap="none" anchor="t" lIns="0" rIns="0" tIns="0" bIns="0">
            <a:noAutofit/>
          </a:bodyPr>
          <a:lstStyle/>
          <a:p>
            <a:pPr algn="l">
              <a:lnSpc>
                <a:spcPct val="94000"/>
              </a:lnSpc>
              <a:spcAft>
                <a:spcPts val="0"/>
              </a:spcAft>
            </a:pPr>
            <a:r>
              <a:rPr sz="3800" b="1">
                <a:solidFill>
                  <a:srgbClr val="0B0B0B"/>
                </a:solidFill>
                <a:latin typeface="DIN Condensed"/>
              </a:rPr>
              <a:t>127</a:t>
            </a:r>
          </a:p>
        </p:txBody>
      </p:sp>
      <p:sp>
        <p:nvSpPr>
          <p:cNvPr id="12" name="TextBox 11"/>
          <p:cNvSpPr txBox="1"/>
          <p:nvPr/>
        </p:nvSpPr>
        <p:spPr>
          <a:xfrm>
            <a:off x="1417320" y="5175504"/>
            <a:ext cx="713232"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audited</a:t>
            </a:r>
          </a:p>
        </p:txBody>
      </p:sp>
      <p:cxnSp>
        <p:nvCxnSpPr>
          <p:cNvPr id="13" name="Connector 12"/>
          <p:cNvCxnSpPr/>
          <p:nvPr/>
        </p:nvCxnSpPr>
        <p:spPr>
          <a:xfrm>
            <a:off x="2331720" y="5285232"/>
            <a:ext cx="44805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2724912" y="5230368"/>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5047488"/>
            <a:ext cx="594360" cy="438912"/>
          </a:xfrm>
          <a:prstGeom prst="rect">
            <a:avLst/>
          </a:prstGeom>
          <a:noFill/>
        </p:spPr>
        <p:txBody>
          <a:bodyPr wrap="none" anchor="t" lIns="0" rIns="0" tIns="0" bIns="0">
            <a:noAutofit/>
          </a:bodyPr>
          <a:lstStyle/>
          <a:p>
            <a:pPr algn="l">
              <a:lnSpc>
                <a:spcPct val="94000"/>
              </a:lnSpc>
              <a:spcAft>
                <a:spcPts val="0"/>
              </a:spcAft>
            </a:pPr>
            <a:r>
              <a:rPr sz="3800" b="1">
                <a:solidFill>
                  <a:srgbClr val="0B0B0B"/>
                </a:solidFill>
                <a:latin typeface="DIN Condensed"/>
              </a:rPr>
              <a:t>97</a:t>
            </a:r>
          </a:p>
        </p:txBody>
      </p:sp>
      <p:sp>
        <p:nvSpPr>
          <p:cNvPr id="16" name="TextBox 15"/>
          <p:cNvSpPr txBox="1"/>
          <p:nvPr/>
        </p:nvSpPr>
        <p:spPr>
          <a:xfrm>
            <a:off x="3547872" y="5175504"/>
            <a:ext cx="804672"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accepted</a:t>
            </a:r>
          </a:p>
        </p:txBody>
      </p:sp>
      <p:cxnSp>
        <p:nvCxnSpPr>
          <p:cNvPr id="17" name="Connector 16"/>
          <p:cNvCxnSpPr/>
          <p:nvPr/>
        </p:nvCxnSpPr>
        <p:spPr>
          <a:xfrm>
            <a:off x="4544568" y="5285232"/>
            <a:ext cx="448056"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4937760" y="5230368"/>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4" y="5047488"/>
            <a:ext cx="594360" cy="438912"/>
          </a:xfrm>
          <a:prstGeom prst="rect">
            <a:avLst/>
          </a:prstGeom>
          <a:noFill/>
        </p:spPr>
        <p:txBody>
          <a:bodyPr wrap="none" anchor="t" lIns="0" rIns="0" tIns="0" bIns="0">
            <a:noAutofit/>
          </a:bodyPr>
          <a:lstStyle/>
          <a:p>
            <a:pPr algn="l">
              <a:lnSpc>
                <a:spcPct val="94000"/>
              </a:lnSpc>
              <a:spcAft>
                <a:spcPts val="0"/>
              </a:spcAft>
            </a:pPr>
            <a:r>
              <a:rPr sz="3800" b="1">
                <a:solidFill>
                  <a:srgbClr val="0B0B0B"/>
                </a:solidFill>
                <a:latin typeface="DIN Condensed"/>
              </a:rPr>
              <a:t>67</a:t>
            </a:r>
          </a:p>
        </p:txBody>
      </p:sp>
      <p:sp>
        <p:nvSpPr>
          <p:cNvPr id="20" name="TextBox 19"/>
          <p:cNvSpPr txBox="1"/>
          <p:nvPr/>
        </p:nvSpPr>
        <p:spPr>
          <a:xfrm>
            <a:off x="5760720" y="5175504"/>
            <a:ext cx="1261872"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canonical real</a:t>
            </a:r>
          </a:p>
        </p:txBody>
      </p:sp>
      <p:sp>
        <p:nvSpPr>
          <p:cNvPr id="21" name="TextBox 20"/>
          <p:cNvSpPr txBox="1"/>
          <p:nvPr/>
        </p:nvSpPr>
        <p:spPr>
          <a:xfrm>
            <a:off x="8375904" y="4956048"/>
            <a:ext cx="1536192" cy="475488"/>
          </a:xfrm>
          <a:prstGeom prst="rect">
            <a:avLst/>
          </a:prstGeom>
          <a:noFill/>
        </p:spPr>
        <p:txBody>
          <a:bodyPr wrap="square" anchor="t" lIns="0" rIns="0" tIns="0" bIns="0">
            <a:noAutofit/>
          </a:bodyPr>
          <a:lstStyle/>
          <a:p>
            <a:pPr algn="r">
              <a:lnSpc>
                <a:spcPct val="94000"/>
              </a:lnSpc>
              <a:spcAft>
                <a:spcPts val="0"/>
              </a:spcAft>
            </a:pPr>
            <a:r>
              <a:rPr sz="3800" b="1">
                <a:solidFill>
                  <a:srgbClr val="0B0B0B"/>
                </a:solidFill>
                <a:latin typeface="DIN Condensed"/>
              </a:rPr>
              <a:t>32,051</a:t>
            </a:r>
          </a:p>
        </p:txBody>
      </p:sp>
      <p:sp>
        <p:nvSpPr>
          <p:cNvPr id="22" name="TextBox 21"/>
          <p:cNvSpPr txBox="1"/>
          <p:nvPr/>
        </p:nvSpPr>
        <p:spPr>
          <a:xfrm>
            <a:off x="10040112" y="5175504"/>
            <a:ext cx="749808"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frames</a:t>
            </a:r>
          </a:p>
        </p:txBody>
      </p:sp>
      <p:sp>
        <p:nvSpPr>
          <p:cNvPr id="23" name="TextBox 22"/>
          <p:cNvSpPr txBox="1"/>
          <p:nvPr/>
        </p:nvSpPr>
        <p:spPr>
          <a:xfrm>
            <a:off x="7772400" y="5669280"/>
            <a:ext cx="3017520" cy="22860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session-held-out train · validation · sealed test</a:t>
            </a:r>
          </a:p>
        </p:txBody>
      </p:sp>
      <p:sp>
        <p:nvSpPr>
          <p:cNvPr id="24" name="TextBox 23"/>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Artifact-verified manifests; real frames shown are demonstration data, not autonomous execution</a:t>
            </a:r>
          </a:p>
        </p:txBody>
      </p:sp>
      <p:sp>
        <p:nvSpPr>
          <p:cNvPr id="25" name="TextBox 24"/>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500" b="1">
                <a:solidFill>
                  <a:srgbClr val="0B0B0B"/>
                </a:solidFill>
                <a:latin typeface="Avenir Next"/>
              </a:rPr>
              <a:t>Action semantics mattered more than training longer</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06</a:t>
            </a:r>
          </a:p>
        </p:txBody>
      </p:sp>
      <p:sp>
        <p:nvSpPr>
          <p:cNvPr id="5" name="TextBox 4"/>
          <p:cNvSpPr txBox="1"/>
          <p:nvPr/>
        </p:nvSpPr>
        <p:spPr>
          <a:xfrm>
            <a:off x="749808" y="1344168"/>
            <a:ext cx="9875520" cy="502920"/>
          </a:xfrm>
          <a:prstGeom prst="rect">
            <a:avLst/>
          </a:prstGeom>
          <a:noFill/>
        </p:spPr>
        <p:txBody>
          <a:bodyPr wrap="square" anchor="t" lIns="0" rIns="0" tIns="0" bIns="0">
            <a:noAutofit/>
          </a:bodyPr>
          <a:lstStyle/>
          <a:p>
            <a:pPr algn="l">
              <a:lnSpc>
                <a:spcPct val="100000"/>
              </a:lnSpc>
              <a:spcAft>
                <a:spcPts val="0"/>
              </a:spcAft>
            </a:pPr>
            <a:r>
              <a:rPr sz="3800" b="1">
                <a:solidFill>
                  <a:srgbClr val="0B0B0B"/>
                </a:solidFill>
                <a:latin typeface="DIN Condensed"/>
              </a:rPr>
              <a:t>36</a:t>
            </a:r>
            <a:r>
              <a:rPr sz="1700" b="0">
                <a:solidFill>
                  <a:srgbClr val="64645F"/>
                </a:solidFill>
                <a:latin typeface="Avenir Next"/>
              </a:rPr>
              <a:t> attempts   →   </a:t>
            </a:r>
            <a:r>
              <a:rPr sz="3800" b="1">
                <a:solidFill>
                  <a:srgbClr val="0B0B0B"/>
                </a:solidFill>
                <a:latin typeface="DIN Condensed"/>
              </a:rPr>
              <a:t>32</a:t>
            </a:r>
            <a:r>
              <a:rPr sz="1700" b="0">
                <a:solidFill>
                  <a:srgbClr val="64645F"/>
                </a:solidFill>
                <a:latin typeface="Avenir Next"/>
              </a:rPr>
              <a:t> checkpoint-producing   →   </a:t>
            </a:r>
            <a:r>
              <a:rPr sz="3800" b="1">
                <a:solidFill>
                  <a:srgbClr val="0B0B0B"/>
                </a:solidFill>
                <a:latin typeface="DIN Condensed"/>
              </a:rPr>
              <a:t>0</a:t>
            </a:r>
            <a:r>
              <a:rPr sz="1700" b="0">
                <a:solidFill>
                  <a:srgbClr val="64645F"/>
                </a:solidFill>
                <a:latin typeface="Avenir Next"/>
              </a:rPr>
              <a:t> authorized</a:t>
            </a:r>
          </a:p>
        </p:txBody>
      </p:sp>
      <p:sp>
        <p:nvSpPr>
          <p:cNvPr id="6" name="TextBox 5"/>
          <p:cNvSpPr txBox="1"/>
          <p:nvPr/>
        </p:nvSpPr>
        <p:spPr>
          <a:xfrm>
            <a:off x="749808" y="2066543"/>
            <a:ext cx="3474720" cy="228600"/>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WEIGHTED RIGHT-HAND ADE · LOWER IS BETTER</a:t>
            </a:r>
          </a:p>
        </p:txBody>
      </p:sp>
      <p:sp>
        <p:nvSpPr>
          <p:cNvPr id="7" name="TextBox 6"/>
          <p:cNvSpPr txBox="1"/>
          <p:nvPr/>
        </p:nvSpPr>
        <p:spPr>
          <a:xfrm>
            <a:off x="749808" y="2596896"/>
            <a:ext cx="1920240" cy="274320"/>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absolute action</a:t>
            </a:r>
          </a:p>
        </p:txBody>
      </p:sp>
      <p:sp>
        <p:nvSpPr>
          <p:cNvPr id="8" name="Rectangle 7"/>
          <p:cNvSpPr/>
          <p:nvPr/>
        </p:nvSpPr>
        <p:spPr>
          <a:xfrm>
            <a:off x="2880360" y="2578608"/>
            <a:ext cx="5354879" cy="420624"/>
          </a:xfrm>
          <a:prstGeom prst="rect">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90687" y="2615184"/>
            <a:ext cx="1097280" cy="274320"/>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0.12517 m</a:t>
            </a:r>
          </a:p>
        </p:txBody>
      </p:sp>
      <p:sp>
        <p:nvSpPr>
          <p:cNvPr id="10" name="TextBox 9"/>
          <p:cNvSpPr txBox="1"/>
          <p:nvPr/>
        </p:nvSpPr>
        <p:spPr>
          <a:xfrm>
            <a:off x="749808" y="3538727"/>
            <a:ext cx="1920240" cy="274320"/>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relative to current pose</a:t>
            </a:r>
          </a:p>
        </p:txBody>
      </p:sp>
      <p:sp>
        <p:nvSpPr>
          <p:cNvPr id="11" name="Rectangle 10"/>
          <p:cNvSpPr/>
          <p:nvPr/>
        </p:nvSpPr>
        <p:spPr>
          <a:xfrm>
            <a:off x="2880360" y="3520439"/>
            <a:ext cx="3651346" cy="420624"/>
          </a:xfrm>
          <a:prstGeom prst="rect">
            <a:avLst/>
          </a:prstGeom>
          <a:solidFill>
            <a:srgbClr val="D7D6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87154" y="3557015"/>
            <a:ext cx="1097280" cy="274320"/>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0.08535 m</a:t>
            </a:r>
          </a:p>
        </p:txBody>
      </p:sp>
      <p:sp>
        <p:nvSpPr>
          <p:cNvPr id="13" name="TextBox 12"/>
          <p:cNvSpPr txBox="1"/>
          <p:nvPr/>
        </p:nvSpPr>
        <p:spPr>
          <a:xfrm>
            <a:off x="749808" y="4480559"/>
            <a:ext cx="1920240" cy="274320"/>
          </a:xfrm>
          <a:prstGeom prst="rect">
            <a:avLst/>
          </a:prstGeom>
          <a:noFill/>
        </p:spPr>
        <p:txBody>
          <a:bodyPr wrap="square" anchor="t" lIns="0" rIns="0" tIns="0" bIns="0">
            <a:noAutofit/>
          </a:bodyPr>
          <a:lstStyle/>
          <a:p>
            <a:pPr algn="l">
              <a:lnSpc>
                <a:spcPct val="108000"/>
              </a:lnSpc>
              <a:spcAft>
                <a:spcPts val="0"/>
              </a:spcAft>
            </a:pPr>
            <a:r>
              <a:rPr sz="1600" b="0">
                <a:solidFill>
                  <a:srgbClr val="0B0B0B"/>
                </a:solidFill>
                <a:latin typeface="Avenir Next"/>
              </a:rPr>
              <a:t>achieved future state</a:t>
            </a:r>
          </a:p>
        </p:txBody>
      </p:sp>
      <p:sp>
        <p:nvSpPr>
          <p:cNvPr id="14" name="Rectangle 13"/>
          <p:cNvSpPr/>
          <p:nvPr/>
        </p:nvSpPr>
        <p:spPr>
          <a:xfrm>
            <a:off x="2880360" y="4462272"/>
            <a:ext cx="2864178" cy="420624"/>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9986" y="4498848"/>
            <a:ext cx="1097280" cy="274320"/>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0.06695 m</a:t>
            </a:r>
          </a:p>
        </p:txBody>
      </p:sp>
      <p:sp>
        <p:nvSpPr>
          <p:cNvPr id="16" name="TextBox 15"/>
          <p:cNvSpPr txBox="1"/>
          <p:nvPr/>
        </p:nvSpPr>
        <p:spPr>
          <a:xfrm>
            <a:off x="8814816" y="2816352"/>
            <a:ext cx="1499616" cy="475488"/>
          </a:xfrm>
          <a:prstGeom prst="rect">
            <a:avLst/>
          </a:prstGeom>
          <a:noFill/>
        </p:spPr>
        <p:txBody>
          <a:bodyPr wrap="none" anchor="t" lIns="0" rIns="0" tIns="0" bIns="0">
            <a:noAutofit/>
          </a:bodyPr>
          <a:lstStyle/>
          <a:p>
            <a:pPr algn="r">
              <a:lnSpc>
                <a:spcPct val="94000"/>
              </a:lnSpc>
              <a:spcAft>
                <a:spcPts val="0"/>
              </a:spcAft>
            </a:pPr>
            <a:r>
              <a:rPr sz="3400" b="1">
                <a:solidFill>
                  <a:srgbClr val="0B0B0B"/>
                </a:solidFill>
                <a:latin typeface="DIN Condensed"/>
              </a:rPr>
              <a:t>31.8%</a:t>
            </a:r>
          </a:p>
        </p:txBody>
      </p:sp>
      <p:sp>
        <p:nvSpPr>
          <p:cNvPr id="17" name="TextBox 16"/>
          <p:cNvSpPr txBox="1"/>
          <p:nvPr/>
        </p:nvSpPr>
        <p:spPr>
          <a:xfrm>
            <a:off x="8321040" y="3346704"/>
            <a:ext cx="1993392" cy="228600"/>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absolute → relative</a:t>
            </a:r>
          </a:p>
        </p:txBody>
      </p:sp>
      <p:sp>
        <p:nvSpPr>
          <p:cNvPr id="18" name="TextBox 17"/>
          <p:cNvSpPr txBox="1"/>
          <p:nvPr/>
        </p:nvSpPr>
        <p:spPr>
          <a:xfrm>
            <a:off x="8814816" y="4096512"/>
            <a:ext cx="1499616" cy="475488"/>
          </a:xfrm>
          <a:prstGeom prst="rect">
            <a:avLst/>
          </a:prstGeom>
          <a:noFill/>
        </p:spPr>
        <p:txBody>
          <a:bodyPr wrap="none" anchor="t" lIns="0" rIns="0" tIns="0" bIns="0">
            <a:noAutofit/>
          </a:bodyPr>
          <a:lstStyle/>
          <a:p>
            <a:pPr algn="r">
              <a:lnSpc>
                <a:spcPct val="94000"/>
              </a:lnSpc>
              <a:spcAft>
                <a:spcPts val="0"/>
              </a:spcAft>
            </a:pPr>
            <a:r>
              <a:rPr sz="3400" b="1">
                <a:solidFill>
                  <a:srgbClr val="0B0B0B"/>
                </a:solidFill>
                <a:latin typeface="DIN Condensed"/>
              </a:rPr>
              <a:t>21.6%</a:t>
            </a:r>
          </a:p>
        </p:txBody>
      </p:sp>
      <p:sp>
        <p:nvSpPr>
          <p:cNvPr id="19" name="TextBox 18"/>
          <p:cNvSpPr txBox="1"/>
          <p:nvPr/>
        </p:nvSpPr>
        <p:spPr>
          <a:xfrm>
            <a:off x="8028431" y="4617720"/>
            <a:ext cx="2286000" cy="228600"/>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relative → future-aligned</a:t>
            </a:r>
          </a:p>
        </p:txBody>
      </p:sp>
      <p:cxnSp>
        <p:nvCxnSpPr>
          <p:cNvPr id="20" name="Connector 19"/>
          <p:cNvCxnSpPr/>
          <p:nvPr/>
        </p:nvCxnSpPr>
        <p:spPr>
          <a:xfrm>
            <a:off x="749808" y="5559552"/>
            <a:ext cx="9473184" cy="0"/>
          </a:xfrm>
          <a:prstGeom prst="line">
            <a:avLst/>
          </a:prstGeom>
          <a:ln w="16510">
            <a:solidFill>
              <a:srgbClr val="0B0B0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5751576"/>
            <a:ext cx="6035040" cy="329184"/>
          </a:xfrm>
          <a:prstGeom prst="rect">
            <a:avLst/>
          </a:prstGeom>
          <a:noFill/>
        </p:spPr>
        <p:txBody>
          <a:bodyPr wrap="square" anchor="t" lIns="0" rIns="0" tIns="0" bIns="0">
            <a:noAutofit/>
          </a:bodyPr>
          <a:lstStyle/>
          <a:p>
            <a:pPr algn="l">
              <a:lnSpc>
                <a:spcPct val="110000"/>
              </a:lnSpc>
              <a:spcAft>
                <a:spcPts val="0"/>
              </a:spcAft>
            </a:pPr>
            <a:r>
              <a:rPr sz="1900" b="1">
                <a:solidFill>
                  <a:srgbClr val="0B0B0B"/>
                </a:solidFill>
                <a:latin typeface="Avenir Next"/>
              </a:rPr>
              <a:t>Longer training did not improve the original pilot.</a:t>
            </a:r>
          </a:p>
        </p:txBody>
      </p:sp>
      <p:sp>
        <p:nvSpPr>
          <p:cNvPr id="22" name="TextBox 21"/>
          <p:cNvSpPr txBox="1"/>
          <p:nvPr/>
        </p:nvSpPr>
        <p:spPr>
          <a:xfrm>
            <a:off x="6675120" y="5751576"/>
            <a:ext cx="3639312" cy="329184"/>
          </a:xfrm>
          <a:prstGeom prst="rect">
            <a:avLst/>
          </a:prstGeom>
          <a:noFill/>
        </p:spPr>
        <p:txBody>
          <a:bodyPr wrap="square" anchor="t" lIns="0" rIns="0" tIns="0" bIns="0">
            <a:noAutofit/>
          </a:bodyPr>
          <a:lstStyle/>
          <a:p>
            <a:pPr algn="r">
              <a:lnSpc>
                <a:spcPct val="112000"/>
              </a:lnSpc>
              <a:spcAft>
                <a:spcPts val="0"/>
              </a:spcAft>
            </a:pPr>
            <a:r>
              <a:rPr sz="1900" b="0">
                <a:solidFill>
                  <a:srgbClr val="64645F"/>
                </a:solidFill>
                <a:latin typeface="Avenir Next"/>
              </a:rPr>
              <a:t>The label definition was the breakthrough.</a:t>
            </a:r>
          </a:p>
        </p:txBody>
      </p:sp>
      <p:sp>
        <p:nvSpPr>
          <p:cNvPr id="23" name="TextBox 22"/>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Offline evaluation only</a:t>
            </a:r>
          </a:p>
        </p:txBody>
      </p:sp>
      <p:sp>
        <p:nvSpPr>
          <p:cNvPr id="24" name="TextBox 23"/>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Lower offline error still produced inconsistent motion</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07</a:t>
            </a:r>
          </a:p>
        </p:txBody>
      </p:sp>
      <p:sp>
        <p:nvSpPr>
          <p:cNvPr id="5" name="TextBox 4"/>
          <p:cNvSpPr txBox="1"/>
          <p:nvPr/>
        </p:nvSpPr>
        <p:spPr>
          <a:xfrm>
            <a:off x="768096" y="1353312"/>
            <a:ext cx="2743200" cy="1170432"/>
          </a:xfrm>
          <a:prstGeom prst="rect">
            <a:avLst/>
          </a:prstGeom>
          <a:noFill/>
        </p:spPr>
        <p:txBody>
          <a:bodyPr wrap="square" anchor="t" lIns="0" rIns="0" tIns="0" bIns="0">
            <a:noAutofit/>
          </a:bodyPr>
          <a:lstStyle/>
          <a:p>
            <a:pPr algn="l">
              <a:lnSpc>
                <a:spcPct val="90000"/>
              </a:lnSpc>
              <a:spcAft>
                <a:spcPts val="0"/>
              </a:spcAft>
            </a:pPr>
            <a:r>
              <a:rPr sz="9400" b="1">
                <a:solidFill>
                  <a:srgbClr val="0B0B0B"/>
                </a:solidFill>
                <a:latin typeface="DIN Condensed"/>
              </a:rPr>
              <a:t>0</a:t>
            </a:r>
          </a:p>
        </p:txBody>
      </p:sp>
      <p:sp>
        <p:nvSpPr>
          <p:cNvPr id="6" name="TextBox 5"/>
          <p:cNvSpPr txBox="1"/>
          <p:nvPr/>
        </p:nvSpPr>
        <p:spPr>
          <a:xfrm>
            <a:off x="804672" y="2587752"/>
            <a:ext cx="2606040" cy="658368"/>
          </a:xfrm>
          <a:prstGeom prst="rect">
            <a:avLst/>
          </a:prstGeom>
          <a:noFill/>
        </p:spPr>
        <p:txBody>
          <a:bodyPr wrap="square" anchor="t" lIns="0" rIns="0" tIns="0" bIns="0">
            <a:noAutofit/>
          </a:bodyPr>
          <a:lstStyle/>
          <a:p>
            <a:pPr algn="l">
              <a:lnSpc>
                <a:spcPct val="104000"/>
              </a:lnSpc>
              <a:spcAft>
                <a:spcPts val="0"/>
              </a:spcAft>
            </a:pPr>
            <a:r>
              <a:rPr sz="2700" b="1">
                <a:solidFill>
                  <a:srgbClr val="0B0B0B"/>
                </a:solidFill>
                <a:latin typeface="Avenir Next"/>
              </a:rPr>
              <a:t>robot-authorized
checkpoints</a:t>
            </a:r>
          </a:p>
        </p:txBody>
      </p:sp>
      <p:cxnSp>
        <p:nvCxnSpPr>
          <p:cNvPr id="7" name="Connector 6"/>
          <p:cNvCxnSpPr/>
          <p:nvPr/>
        </p:nvCxnSpPr>
        <p:spPr>
          <a:xfrm>
            <a:off x="3840480" y="1417320"/>
            <a:ext cx="0" cy="4233672"/>
          </a:xfrm>
          <a:prstGeom prst="line">
            <a:avLst/>
          </a:prstGeom>
          <a:ln w="15240">
            <a:solidFill>
              <a:srgbClr val="0B0B0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251960" y="1444752"/>
            <a:ext cx="1325880" cy="438912"/>
          </a:xfrm>
          <a:prstGeom prst="rect">
            <a:avLst/>
          </a:prstGeom>
          <a:noFill/>
        </p:spPr>
        <p:txBody>
          <a:bodyPr wrap="square" anchor="t" lIns="0" rIns="0" tIns="0" bIns="0">
            <a:noAutofit/>
          </a:bodyPr>
          <a:lstStyle/>
          <a:p>
            <a:pPr algn="l">
              <a:lnSpc>
                <a:spcPct val="94000"/>
              </a:lnSpc>
              <a:spcAft>
                <a:spcPts val="0"/>
              </a:spcAft>
            </a:pPr>
            <a:r>
              <a:rPr sz="3400" b="1">
                <a:solidFill>
                  <a:srgbClr val="0B0B0B"/>
                </a:solidFill>
                <a:latin typeface="DIN Condensed"/>
              </a:rPr>
              <a:t>BASELINE</a:t>
            </a:r>
          </a:p>
        </p:txBody>
      </p:sp>
      <p:sp>
        <p:nvSpPr>
          <p:cNvPr id="9" name="TextBox 8"/>
          <p:cNvSpPr txBox="1"/>
          <p:nvPr/>
        </p:nvSpPr>
        <p:spPr>
          <a:xfrm>
            <a:off x="5715000" y="1463040"/>
            <a:ext cx="4983480" cy="621792"/>
          </a:xfrm>
          <a:prstGeom prst="rect">
            <a:avLst/>
          </a:prstGeom>
          <a:noFill/>
        </p:spPr>
        <p:txBody>
          <a:bodyPr wrap="square" anchor="t" lIns="0" rIns="0" tIns="0" bIns="0">
            <a:noAutofit/>
          </a:bodyPr>
          <a:lstStyle/>
          <a:p>
            <a:pPr algn="l">
              <a:lnSpc>
                <a:spcPct val="112000"/>
              </a:lnSpc>
              <a:spcAft>
                <a:spcPts val="0"/>
              </a:spcAft>
            </a:pPr>
            <a:r>
              <a:rPr sz="1950" b="0">
                <a:solidFill>
                  <a:srgbClr val="0B0B0B"/>
                </a:solidFill>
                <a:latin typeface="Avenir Next"/>
              </a:rPr>
              <a:t>Did not beat holding the current pose or predicting the mean action.</a:t>
            </a:r>
          </a:p>
        </p:txBody>
      </p:sp>
      <p:cxnSp>
        <p:nvCxnSpPr>
          <p:cNvPr id="10" name="Connector 9"/>
          <p:cNvCxnSpPr/>
          <p:nvPr/>
        </p:nvCxnSpPr>
        <p:spPr>
          <a:xfrm>
            <a:off x="4251960" y="2377440"/>
            <a:ext cx="6446520" cy="0"/>
          </a:xfrm>
          <a:prstGeom prst="line">
            <a:avLst/>
          </a:prstGeom>
          <a:ln w="11430">
            <a:solidFill>
              <a:srgbClr val="D7D6C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51960" y="2770632"/>
            <a:ext cx="1325880" cy="438912"/>
          </a:xfrm>
          <a:prstGeom prst="rect">
            <a:avLst/>
          </a:prstGeom>
          <a:noFill/>
        </p:spPr>
        <p:txBody>
          <a:bodyPr wrap="square" anchor="t" lIns="0" rIns="0" tIns="0" bIns="0">
            <a:noAutofit/>
          </a:bodyPr>
          <a:lstStyle/>
          <a:p>
            <a:pPr algn="l">
              <a:lnSpc>
                <a:spcPct val="94000"/>
              </a:lnSpc>
              <a:spcAft>
                <a:spcPts val="0"/>
              </a:spcAft>
            </a:pPr>
            <a:r>
              <a:rPr sz="3400" b="1">
                <a:solidFill>
                  <a:srgbClr val="0B0B0B"/>
                </a:solidFill>
                <a:latin typeface="DIN Condensed"/>
              </a:rPr>
              <a:t>2.14×</a:t>
            </a:r>
          </a:p>
        </p:txBody>
      </p:sp>
      <p:sp>
        <p:nvSpPr>
          <p:cNvPr id="12" name="TextBox 11"/>
          <p:cNvSpPr txBox="1"/>
          <p:nvPr/>
        </p:nvSpPr>
        <p:spPr>
          <a:xfrm>
            <a:off x="5715000" y="2788920"/>
            <a:ext cx="4983480" cy="621792"/>
          </a:xfrm>
          <a:prstGeom prst="rect">
            <a:avLst/>
          </a:prstGeom>
          <a:noFill/>
        </p:spPr>
        <p:txBody>
          <a:bodyPr wrap="square" anchor="t" lIns="0" rIns="0" tIns="0" bIns="0">
            <a:noAutofit/>
          </a:bodyPr>
          <a:lstStyle/>
          <a:p>
            <a:pPr algn="l">
              <a:lnSpc>
                <a:spcPct val="112000"/>
              </a:lnSpc>
              <a:spcAft>
                <a:spcPts val="0"/>
              </a:spcAft>
            </a:pPr>
            <a:r>
              <a:rPr sz="1950" b="0">
                <a:solidFill>
                  <a:srgbClr val="0B0B0B"/>
                </a:solidFill>
                <a:latin typeface="Avenir Next"/>
              </a:rPr>
              <a:t>Predicted displacement exceeded the real-validation target motion.</a:t>
            </a:r>
          </a:p>
        </p:txBody>
      </p:sp>
      <p:cxnSp>
        <p:nvCxnSpPr>
          <p:cNvPr id="13" name="Connector 12"/>
          <p:cNvCxnSpPr/>
          <p:nvPr/>
        </p:nvCxnSpPr>
        <p:spPr>
          <a:xfrm>
            <a:off x="4251960" y="3703320"/>
            <a:ext cx="6446520" cy="0"/>
          </a:xfrm>
          <a:prstGeom prst="line">
            <a:avLst/>
          </a:prstGeom>
          <a:ln w="11430">
            <a:solidFill>
              <a:srgbClr val="D7D6C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51960" y="4096512"/>
            <a:ext cx="1325880" cy="438912"/>
          </a:xfrm>
          <a:prstGeom prst="rect">
            <a:avLst/>
          </a:prstGeom>
          <a:noFill/>
        </p:spPr>
        <p:txBody>
          <a:bodyPr wrap="square" anchor="t" lIns="0" rIns="0" tIns="0" bIns="0">
            <a:noAutofit/>
          </a:bodyPr>
          <a:lstStyle/>
          <a:p>
            <a:pPr algn="l">
              <a:lnSpc>
                <a:spcPct val="94000"/>
              </a:lnSpc>
              <a:spcAft>
                <a:spcPts val="0"/>
              </a:spcAft>
            </a:pPr>
            <a:r>
              <a:rPr sz="3400" b="1">
                <a:solidFill>
                  <a:srgbClr val="0B0B0B"/>
                </a:solidFill>
                <a:latin typeface="DIN Condensed"/>
              </a:rPr>
              <a:t>8.8%</a:t>
            </a:r>
          </a:p>
        </p:txBody>
      </p:sp>
      <p:sp>
        <p:nvSpPr>
          <p:cNvPr id="15" name="TextBox 14"/>
          <p:cNvSpPr txBox="1"/>
          <p:nvPr/>
        </p:nvSpPr>
        <p:spPr>
          <a:xfrm>
            <a:off x="5715000" y="4114800"/>
            <a:ext cx="4983480" cy="621792"/>
          </a:xfrm>
          <a:prstGeom prst="rect">
            <a:avLst/>
          </a:prstGeom>
          <a:noFill/>
        </p:spPr>
        <p:txBody>
          <a:bodyPr wrap="square" anchor="t" lIns="0" rIns="0" tIns="0" bIns="0">
            <a:noAutofit/>
          </a:bodyPr>
          <a:lstStyle/>
          <a:p>
            <a:pPr algn="l">
              <a:lnSpc>
                <a:spcPct val="112000"/>
              </a:lnSpc>
              <a:spcAft>
                <a:spcPts val="0"/>
              </a:spcAft>
            </a:pPr>
            <a:r>
              <a:rPr sz="1950" b="0">
                <a:solidFill>
                  <a:srgbClr val="0B0B0B"/>
                </a:solidFill>
                <a:latin typeface="Avenir Next"/>
              </a:rPr>
              <a:t>Normalized outputs saturated at the clipping limit.</a:t>
            </a:r>
          </a:p>
        </p:txBody>
      </p:sp>
      <p:sp>
        <p:nvSpPr>
          <p:cNvPr id="16" name="Rectangle 15"/>
          <p:cNvSpPr/>
          <p:nvPr/>
        </p:nvSpPr>
        <p:spPr>
          <a:xfrm>
            <a:off x="4251960" y="5239512"/>
            <a:ext cx="6446520" cy="530352"/>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2272" y="5376672"/>
            <a:ext cx="1737360" cy="228600"/>
          </a:xfrm>
          <a:prstGeom prst="rect">
            <a:avLst/>
          </a:prstGeom>
          <a:noFill/>
        </p:spPr>
        <p:txBody>
          <a:bodyPr wrap="square" anchor="t" lIns="0" rIns="0" tIns="0" bIns="0">
            <a:noAutofit/>
          </a:bodyPr>
          <a:lstStyle/>
          <a:p>
            <a:pPr algn="l">
              <a:lnSpc>
                <a:spcPct val="100000"/>
              </a:lnSpc>
              <a:spcAft>
                <a:spcPts val="0"/>
              </a:spcAft>
            </a:pPr>
            <a:r>
              <a:rPr sz="1400" b="1">
                <a:solidFill>
                  <a:srgbClr val="FFFFFF"/>
                </a:solidFill>
                <a:latin typeface="DIN Condensed"/>
              </a:rPr>
              <a:t>NOT PROMOTED</a:t>
            </a:r>
          </a:p>
        </p:txBody>
      </p:sp>
      <p:sp>
        <p:nvSpPr>
          <p:cNvPr id="18" name="TextBox 17"/>
          <p:cNvSpPr txBox="1"/>
          <p:nvPr/>
        </p:nvSpPr>
        <p:spPr>
          <a:xfrm>
            <a:off x="6419088" y="5376672"/>
            <a:ext cx="4023360" cy="228600"/>
          </a:xfrm>
          <a:prstGeom prst="rect">
            <a:avLst/>
          </a:prstGeom>
          <a:noFill/>
        </p:spPr>
        <p:txBody>
          <a:bodyPr wrap="square" anchor="t" lIns="0" rIns="0" tIns="0" bIns="0">
            <a:noAutofit/>
          </a:bodyPr>
          <a:lstStyle/>
          <a:p>
            <a:pPr algn="r">
              <a:lnSpc>
                <a:spcPct val="100000"/>
              </a:lnSpc>
              <a:spcAft>
                <a:spcPts val="0"/>
              </a:spcAft>
            </a:pPr>
            <a:r>
              <a:rPr sz="1150" b="1">
                <a:solidFill>
                  <a:srgbClr val="D7D6CF"/>
                </a:solidFill>
                <a:latin typeface="Avenir Next"/>
              </a:rPr>
              <a:t>Accuracy, calibration, consistency, and safety all mattered.</a:t>
            </a:r>
          </a:p>
        </p:txBody>
      </p:sp>
      <p:sp>
        <p:nvSpPr>
          <p:cNvPr id="19" name="TextBox 18"/>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No measured production VLA inference-time claim is used</a:t>
            </a:r>
          </a:p>
        </p:txBody>
      </p:sp>
      <p:sp>
        <p:nvSpPr>
          <p:cNvPr id="20" name="TextBox 19"/>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FFFFFF"/>
                </a:solidFill>
                <a:latin typeface="Avenir Next"/>
              </a:rPr>
              <a:t>Local servoing changed the timing regime</a:t>
            </a:r>
          </a:p>
        </p:txBody>
      </p:sp>
      <p:cxnSp>
        <p:nvCxnSpPr>
          <p:cNvPr id="3" name="Connector 2"/>
          <p:cNvCxnSpPr/>
          <p:nvPr/>
        </p:nvCxnSpPr>
        <p:spPr>
          <a:xfrm>
            <a:off x="640080" y="1088136"/>
            <a:ext cx="10899648" cy="0"/>
          </a:xfrm>
          <a:prstGeom prst="line">
            <a:avLst/>
          </a:prstGeom>
          <a:ln w="10160">
            <a:solidFill>
              <a:srgbClr val="64645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D7D6CF"/>
                </a:solidFill>
                <a:latin typeface="Avenir Next"/>
              </a:rPr>
              <a:t>08</a:t>
            </a:r>
          </a:p>
        </p:txBody>
      </p:sp>
      <p:sp>
        <p:nvSpPr>
          <p:cNvPr id="5" name="Rectangle 4"/>
          <p:cNvSpPr/>
          <p:nvPr/>
        </p:nvSpPr>
        <p:spPr>
          <a:xfrm>
            <a:off x="749808" y="1371600"/>
            <a:ext cx="2286000" cy="329184"/>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421892"/>
            <a:ext cx="2139696" cy="201168"/>
          </a:xfrm>
          <a:prstGeom prst="rect">
            <a:avLst/>
          </a:prstGeom>
          <a:noFill/>
        </p:spPr>
        <p:txBody>
          <a:bodyPr wrap="square" anchor="t" lIns="0" rIns="0" tIns="0" bIns="0">
            <a:noAutofit/>
          </a:bodyPr>
          <a:lstStyle/>
          <a:p>
            <a:pPr algn="ctr">
              <a:lnSpc>
                <a:spcPct val="100000"/>
              </a:lnSpc>
              <a:spcAft>
                <a:spcPts val="0"/>
              </a:spcAft>
            </a:pPr>
            <a:r>
              <a:rPr sz="1250" b="1">
                <a:solidFill>
                  <a:srgbClr val="FFFFFF"/>
                </a:solidFill>
                <a:latin typeface="DIN Condensed"/>
              </a:rPr>
              <a:t>OFFLINE CANONICAL BENCHMARK</a:t>
            </a:r>
          </a:p>
        </p:txBody>
      </p:sp>
      <p:sp>
        <p:nvSpPr>
          <p:cNvPr id="7" name="TextBox 6"/>
          <p:cNvSpPr txBox="1"/>
          <p:nvPr/>
        </p:nvSpPr>
        <p:spPr>
          <a:xfrm>
            <a:off x="749808" y="1865376"/>
            <a:ext cx="3063240" cy="841248"/>
          </a:xfrm>
          <a:prstGeom prst="rect">
            <a:avLst/>
          </a:prstGeom>
          <a:noFill/>
        </p:spPr>
        <p:txBody>
          <a:bodyPr wrap="none" anchor="t" lIns="0" rIns="0" tIns="0" bIns="0">
            <a:noAutofit/>
          </a:bodyPr>
          <a:lstStyle/>
          <a:p>
            <a:pPr algn="l">
              <a:lnSpc>
                <a:spcPct val="90000"/>
              </a:lnSpc>
              <a:spcAft>
                <a:spcPts val="0"/>
              </a:spcAft>
            </a:pPr>
            <a:r>
              <a:rPr sz="5700" b="1">
                <a:solidFill>
                  <a:srgbClr val="FFFFFF"/>
                </a:solidFill>
                <a:latin typeface="DIN Condensed"/>
              </a:rPr>
              <a:t>230.3 ms</a:t>
            </a:r>
          </a:p>
        </p:txBody>
      </p:sp>
      <p:sp>
        <p:nvSpPr>
          <p:cNvPr id="8" name="TextBox 7"/>
          <p:cNvSpPr txBox="1"/>
          <p:nvPr/>
        </p:nvSpPr>
        <p:spPr>
          <a:xfrm>
            <a:off x="786384" y="2788920"/>
            <a:ext cx="2651760" cy="274320"/>
          </a:xfrm>
          <a:prstGeom prst="rect">
            <a:avLst/>
          </a:prstGeom>
          <a:noFill/>
        </p:spPr>
        <p:txBody>
          <a:bodyPr wrap="square" anchor="t" lIns="0" rIns="0" tIns="0" bIns="0">
            <a:noAutofit/>
          </a:bodyPr>
          <a:lstStyle/>
          <a:p>
            <a:pPr algn="l">
              <a:lnSpc>
                <a:spcPct val="108000"/>
              </a:lnSpc>
              <a:spcAft>
                <a:spcPts val="0"/>
              </a:spcAft>
            </a:pPr>
            <a:r>
              <a:rPr sz="1700" b="0">
                <a:solidFill>
                  <a:srgbClr val="D7D6CF"/>
                </a:solidFill>
                <a:latin typeface="Avenir Next"/>
              </a:rPr>
              <a:t>bounded global solve</a:t>
            </a:r>
          </a:p>
        </p:txBody>
      </p:sp>
      <p:cxnSp>
        <p:nvCxnSpPr>
          <p:cNvPr id="9" name="Connector 8"/>
          <p:cNvCxnSpPr/>
          <p:nvPr/>
        </p:nvCxnSpPr>
        <p:spPr>
          <a:xfrm>
            <a:off x="3822191" y="2350008"/>
            <a:ext cx="950977" cy="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5400000">
            <a:off x="4718304" y="2295144"/>
            <a:ext cx="109728" cy="109728"/>
          </a:xfrm>
          <a:prstGeom prst="triangl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1865376"/>
            <a:ext cx="2971800" cy="841248"/>
          </a:xfrm>
          <a:prstGeom prst="rect">
            <a:avLst/>
          </a:prstGeom>
          <a:noFill/>
        </p:spPr>
        <p:txBody>
          <a:bodyPr wrap="none" anchor="t" lIns="0" rIns="0" tIns="0" bIns="0">
            <a:noAutofit/>
          </a:bodyPr>
          <a:lstStyle/>
          <a:p>
            <a:pPr algn="l">
              <a:lnSpc>
                <a:spcPct val="90000"/>
              </a:lnSpc>
              <a:spcAft>
                <a:spcPts val="0"/>
              </a:spcAft>
            </a:pPr>
            <a:r>
              <a:rPr sz="5700" b="1">
                <a:solidFill>
                  <a:srgbClr val="FFFFFF"/>
                </a:solidFill>
                <a:latin typeface="DIN Condensed"/>
              </a:rPr>
              <a:t>0.080 ms</a:t>
            </a:r>
          </a:p>
        </p:txBody>
      </p:sp>
      <p:sp>
        <p:nvSpPr>
          <p:cNvPr id="12" name="TextBox 11"/>
          <p:cNvSpPr txBox="1"/>
          <p:nvPr/>
        </p:nvSpPr>
        <p:spPr>
          <a:xfrm>
            <a:off x="5120640" y="2788920"/>
            <a:ext cx="3063240" cy="274320"/>
          </a:xfrm>
          <a:prstGeom prst="rect">
            <a:avLst/>
          </a:prstGeom>
          <a:noFill/>
        </p:spPr>
        <p:txBody>
          <a:bodyPr wrap="square" anchor="t" lIns="0" rIns="0" tIns="0" bIns="0">
            <a:noAutofit/>
          </a:bodyPr>
          <a:lstStyle/>
          <a:p>
            <a:pPr algn="l">
              <a:lnSpc>
                <a:spcPct val="108000"/>
              </a:lnSpc>
              <a:spcAft>
                <a:spcPts val="0"/>
              </a:spcAft>
            </a:pPr>
            <a:r>
              <a:rPr sz="1700" b="0">
                <a:solidFill>
                  <a:srgbClr val="D7D6CF"/>
                </a:solidFill>
                <a:latin typeface="Avenir Next"/>
              </a:rPr>
              <a:t>bounded analytic local step</a:t>
            </a:r>
          </a:p>
        </p:txBody>
      </p:sp>
      <p:sp>
        <p:nvSpPr>
          <p:cNvPr id="13" name="TextBox 12"/>
          <p:cNvSpPr txBox="1"/>
          <p:nvPr/>
        </p:nvSpPr>
        <p:spPr>
          <a:xfrm>
            <a:off x="8339327" y="1755648"/>
            <a:ext cx="2468880" cy="658368"/>
          </a:xfrm>
          <a:prstGeom prst="rect">
            <a:avLst/>
          </a:prstGeom>
          <a:noFill/>
        </p:spPr>
        <p:txBody>
          <a:bodyPr wrap="none" anchor="t" lIns="0" rIns="0" tIns="0" bIns="0">
            <a:noAutofit/>
          </a:bodyPr>
          <a:lstStyle/>
          <a:p>
            <a:pPr algn="r">
              <a:lnSpc>
                <a:spcPct val="90000"/>
              </a:lnSpc>
              <a:spcAft>
                <a:spcPts val="0"/>
              </a:spcAft>
            </a:pPr>
            <a:r>
              <a:rPr sz="4800" b="1">
                <a:solidFill>
                  <a:srgbClr val="FFFFFF"/>
                </a:solidFill>
                <a:latin typeface="DIN Condensed"/>
              </a:rPr>
              <a:t>≈2,879×</a:t>
            </a:r>
          </a:p>
        </p:txBody>
      </p:sp>
      <p:sp>
        <p:nvSpPr>
          <p:cNvPr id="14" name="TextBox 13"/>
          <p:cNvSpPr txBox="1"/>
          <p:nvPr/>
        </p:nvSpPr>
        <p:spPr>
          <a:xfrm>
            <a:off x="8430768" y="2487168"/>
            <a:ext cx="2423160" cy="274320"/>
          </a:xfrm>
          <a:prstGeom prst="rect">
            <a:avLst/>
          </a:prstGeom>
          <a:noFill/>
        </p:spPr>
        <p:txBody>
          <a:bodyPr wrap="square" anchor="t" lIns="0" rIns="0" tIns="0" bIns="0">
            <a:noAutofit/>
          </a:bodyPr>
          <a:lstStyle/>
          <a:p>
            <a:pPr algn="r">
              <a:lnSpc>
                <a:spcPct val="108000"/>
              </a:lnSpc>
              <a:spcAft>
                <a:spcPts val="0"/>
              </a:spcAft>
            </a:pPr>
            <a:r>
              <a:rPr sz="1700" b="0">
                <a:solidFill>
                  <a:srgbClr val="D7D6CF"/>
                </a:solidFill>
                <a:latin typeface="Avenir Next"/>
              </a:rPr>
              <a:t>per-call latency gap</a:t>
            </a:r>
          </a:p>
        </p:txBody>
      </p:sp>
      <p:cxnSp>
        <p:nvCxnSpPr>
          <p:cNvPr id="15" name="Connector 14"/>
          <p:cNvCxnSpPr/>
          <p:nvPr/>
        </p:nvCxnSpPr>
        <p:spPr>
          <a:xfrm>
            <a:off x="749808" y="3429000"/>
            <a:ext cx="9811512" cy="0"/>
          </a:xfrm>
          <a:prstGeom prst="line">
            <a:avLst/>
          </a:prstGeom>
          <a:ln w="12700">
            <a:solidFill>
              <a:srgbClr val="64645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3767328"/>
            <a:ext cx="2331720" cy="310896"/>
          </a:xfrm>
          <a:prstGeom prst="rect">
            <a:avLst/>
          </a:prstGeom>
          <a:noFill/>
        </p:spPr>
        <p:txBody>
          <a:bodyPr wrap="square" anchor="t" lIns="0" rIns="0" tIns="0" bIns="0">
            <a:noAutofit/>
          </a:bodyPr>
          <a:lstStyle/>
          <a:p>
            <a:pPr algn="l">
              <a:lnSpc>
                <a:spcPct val="100000"/>
              </a:lnSpc>
              <a:spcAft>
                <a:spcPts val="0"/>
              </a:spcAft>
            </a:pPr>
            <a:r>
              <a:rPr sz="1400" b="1">
                <a:solidFill>
                  <a:srgbClr val="D7D6CF"/>
                </a:solidFill>
                <a:latin typeface="DIN Condensed"/>
              </a:rPr>
              <a:t>Different contracts</a:t>
            </a:r>
          </a:p>
        </p:txBody>
      </p:sp>
      <p:sp>
        <p:nvSpPr>
          <p:cNvPr id="17" name="TextBox 16"/>
          <p:cNvSpPr txBox="1"/>
          <p:nvPr/>
        </p:nvSpPr>
        <p:spPr>
          <a:xfrm>
            <a:off x="2871216" y="3712463"/>
            <a:ext cx="4892040" cy="749808"/>
          </a:xfrm>
          <a:prstGeom prst="rect">
            <a:avLst/>
          </a:prstGeom>
          <a:noFill/>
        </p:spPr>
        <p:txBody>
          <a:bodyPr wrap="square" anchor="t" lIns="0" rIns="0" tIns="0" bIns="0">
            <a:noAutofit/>
          </a:bodyPr>
          <a:lstStyle/>
          <a:p>
            <a:pPr algn="l">
              <a:lnSpc>
                <a:spcPct val="112000"/>
              </a:lnSpc>
              <a:spcAft>
                <a:spcPts val="0"/>
              </a:spcAft>
            </a:pPr>
            <a:r>
              <a:rPr sz="1900" b="0">
                <a:solidFill>
                  <a:srgbClr val="FFFFFF"/>
                </a:solidFill>
                <a:latin typeface="Avenir Next"/>
              </a:rPr>
              <a:t>A global solve searches for a complete pose.
A local step repeatedly corrects from measured state.</a:t>
            </a:r>
          </a:p>
        </p:txBody>
      </p:sp>
      <p:sp>
        <p:nvSpPr>
          <p:cNvPr id="18" name="TextBox 17"/>
          <p:cNvSpPr txBox="1"/>
          <p:nvPr/>
        </p:nvSpPr>
        <p:spPr>
          <a:xfrm>
            <a:off x="7973568" y="3730752"/>
            <a:ext cx="2907792" cy="384048"/>
          </a:xfrm>
          <a:prstGeom prst="rect">
            <a:avLst/>
          </a:prstGeom>
          <a:noFill/>
        </p:spPr>
        <p:txBody>
          <a:bodyPr wrap="none" anchor="t" lIns="0" rIns="0" tIns="0" bIns="0">
            <a:noAutofit/>
          </a:bodyPr>
          <a:lstStyle/>
          <a:p>
            <a:pPr algn="r">
              <a:lnSpc>
                <a:spcPct val="94000"/>
              </a:lnSpc>
              <a:spcAft>
                <a:spcPts val="0"/>
              </a:spcAft>
            </a:pPr>
            <a:r>
              <a:rPr sz="2700" b="1">
                <a:solidFill>
                  <a:srgbClr val="FFFFFF"/>
                </a:solidFill>
                <a:latin typeface="DIN Condensed"/>
              </a:rPr>
              <a:t>0.136 → 0.080 ms</a:t>
            </a:r>
          </a:p>
        </p:txBody>
      </p:sp>
      <p:sp>
        <p:nvSpPr>
          <p:cNvPr id="19" name="TextBox 18"/>
          <p:cNvSpPr txBox="1"/>
          <p:nvPr/>
        </p:nvSpPr>
        <p:spPr>
          <a:xfrm>
            <a:off x="8001000" y="4224528"/>
            <a:ext cx="2880360" cy="256032"/>
          </a:xfrm>
          <a:prstGeom prst="rect">
            <a:avLst/>
          </a:prstGeom>
          <a:noFill/>
        </p:spPr>
        <p:txBody>
          <a:bodyPr wrap="square" anchor="t" lIns="0" rIns="0" tIns="0" bIns="0">
            <a:noAutofit/>
          </a:bodyPr>
          <a:lstStyle/>
          <a:p>
            <a:pPr algn="r">
              <a:lnSpc>
                <a:spcPct val="100000"/>
              </a:lnSpc>
              <a:spcAft>
                <a:spcPts val="0"/>
              </a:spcAft>
            </a:pPr>
            <a:r>
              <a:rPr sz="1150" b="1">
                <a:solidFill>
                  <a:srgbClr val="D7D6CF"/>
                </a:solidFill>
                <a:latin typeface="Avenir Next"/>
              </a:rPr>
              <a:t>41% less local Jacobian compute</a:t>
            </a:r>
          </a:p>
        </p:txBody>
      </p:sp>
      <p:sp>
        <p:nvSpPr>
          <p:cNvPr id="20" name="Rectangle 19"/>
          <p:cNvSpPr/>
          <p:nvPr/>
        </p:nvSpPr>
        <p:spPr>
          <a:xfrm>
            <a:off x="749808" y="4892040"/>
            <a:ext cx="10149840" cy="85953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5157216"/>
            <a:ext cx="3200400" cy="256032"/>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LIVE DEMONSTRATION FOLLOWS</a:t>
            </a:r>
          </a:p>
        </p:txBody>
      </p:sp>
      <p:sp>
        <p:nvSpPr>
          <p:cNvPr id="22" name="TextBox 21"/>
          <p:cNvSpPr txBox="1"/>
          <p:nvPr/>
        </p:nvSpPr>
        <p:spPr>
          <a:xfrm>
            <a:off x="4599432" y="5111496"/>
            <a:ext cx="5989320" cy="320040"/>
          </a:xfrm>
          <a:prstGeom prst="rect">
            <a:avLst/>
          </a:prstGeom>
          <a:noFill/>
        </p:spPr>
        <p:txBody>
          <a:bodyPr wrap="square" anchor="t" lIns="0" rIns="0" tIns="0" bIns="0">
            <a:noAutofit/>
          </a:bodyPr>
          <a:lstStyle/>
          <a:p>
            <a:pPr algn="r">
              <a:lnSpc>
                <a:spcPct val="110000"/>
              </a:lnSpc>
              <a:spcAft>
                <a:spcPts val="0"/>
              </a:spcAft>
            </a:pPr>
            <a:r>
              <a:rPr sz="2000" b="1">
                <a:solidFill>
                  <a:srgbClr val="0B0B0B"/>
                </a:solidFill>
                <a:latin typeface="Avenir Next"/>
              </a:rPr>
              <a:t>guarded tracking  +  one bounded interception attempt</a:t>
            </a:r>
          </a:p>
        </p:txBody>
      </p:sp>
      <p:sp>
        <p:nvSpPr>
          <p:cNvPr id="23" name="TextBox 22"/>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D7D6CF"/>
                </a:solidFill>
                <a:latin typeface="Avenir Next"/>
              </a:rPr>
              <a:t>The ≈2,879× figure is not an end-to-end robot speedup</a:t>
            </a:r>
          </a:p>
        </p:txBody>
      </p:sp>
      <p:sp>
        <p:nvSpPr>
          <p:cNvPr id="24" name="TextBox 23"/>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D7D6CF"/>
                </a:solidFill>
                <a:latin typeface="Avenir Nex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The live path remains bounded by deterministic safety</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09</a:t>
            </a:r>
          </a:p>
        </p:txBody>
      </p:sp>
      <p:sp>
        <p:nvSpPr>
          <p:cNvPr id="5" name="Rectangle 4"/>
          <p:cNvSpPr/>
          <p:nvPr/>
        </p:nvSpPr>
        <p:spPr>
          <a:xfrm>
            <a:off x="749808" y="1572768"/>
            <a:ext cx="1874519" cy="841248"/>
          </a:xfrm>
          <a:prstGeom prst="rect">
            <a:avLst/>
          </a:prstGeom>
          <a:solidFill>
            <a:srgbClr val="FFFFF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46504"/>
            <a:ext cx="1581912"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ACQUIRE</a:t>
            </a:r>
          </a:p>
        </p:txBody>
      </p:sp>
      <p:sp>
        <p:nvSpPr>
          <p:cNvPr id="7" name="TextBox 6"/>
          <p:cNvSpPr txBox="1"/>
          <p:nvPr/>
        </p:nvSpPr>
        <p:spPr>
          <a:xfrm>
            <a:off x="859536" y="2075688"/>
            <a:ext cx="1655064" cy="201168"/>
          </a:xfrm>
          <a:prstGeom prst="rect">
            <a:avLst/>
          </a:prstGeom>
          <a:noFill/>
        </p:spPr>
        <p:txBody>
          <a:bodyPr wrap="square" anchor="t" lIns="0" rIns="0" tIns="0" bIns="0">
            <a:noAutofit/>
          </a:bodyPr>
          <a:lstStyle/>
          <a:p>
            <a:pPr algn="ctr">
              <a:lnSpc>
                <a:spcPct val="100000"/>
              </a:lnSpc>
              <a:spcAft>
                <a:spcPts val="0"/>
              </a:spcAft>
            </a:pPr>
            <a:r>
              <a:rPr sz="1150" b="1">
                <a:solidFill>
                  <a:srgbClr val="64645F"/>
                </a:solidFill>
                <a:latin typeface="Avenir Next"/>
              </a:rPr>
              <a:t>stable track</a:t>
            </a:r>
          </a:p>
        </p:txBody>
      </p:sp>
      <p:cxnSp>
        <p:nvCxnSpPr>
          <p:cNvPr id="8" name="Connector 7"/>
          <p:cNvCxnSpPr/>
          <p:nvPr/>
        </p:nvCxnSpPr>
        <p:spPr>
          <a:xfrm>
            <a:off x="2697479" y="1993392"/>
            <a:ext cx="356617"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2999232" y="1938528"/>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91256" y="1572768"/>
            <a:ext cx="1874519" cy="841248"/>
          </a:xfrm>
          <a:prstGeom prst="rect">
            <a:avLst/>
          </a:prstGeom>
          <a:solidFill>
            <a:srgbClr val="FFFFF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746504"/>
            <a:ext cx="1581912"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PREVIEW</a:t>
            </a:r>
          </a:p>
        </p:txBody>
      </p:sp>
      <p:sp>
        <p:nvSpPr>
          <p:cNvPr id="12" name="TextBox 11"/>
          <p:cNvSpPr txBox="1"/>
          <p:nvPr/>
        </p:nvSpPr>
        <p:spPr>
          <a:xfrm>
            <a:off x="3300984" y="2075688"/>
            <a:ext cx="1655064" cy="201168"/>
          </a:xfrm>
          <a:prstGeom prst="rect">
            <a:avLst/>
          </a:prstGeom>
          <a:noFill/>
        </p:spPr>
        <p:txBody>
          <a:bodyPr wrap="square" anchor="t" lIns="0" rIns="0" tIns="0" bIns="0">
            <a:noAutofit/>
          </a:bodyPr>
          <a:lstStyle/>
          <a:p>
            <a:pPr algn="ctr">
              <a:lnSpc>
                <a:spcPct val="100000"/>
              </a:lnSpc>
              <a:spcAft>
                <a:spcPts val="0"/>
              </a:spcAft>
            </a:pPr>
            <a:r>
              <a:rPr sz="1150" b="1">
                <a:solidFill>
                  <a:srgbClr val="64645F"/>
                </a:solidFill>
                <a:latin typeface="Avenir Next"/>
              </a:rPr>
              <a:t>reachable crossing</a:t>
            </a:r>
          </a:p>
        </p:txBody>
      </p:sp>
      <p:cxnSp>
        <p:nvCxnSpPr>
          <p:cNvPr id="13" name="Connector 12"/>
          <p:cNvCxnSpPr/>
          <p:nvPr/>
        </p:nvCxnSpPr>
        <p:spPr>
          <a:xfrm>
            <a:off x="5138927" y="1993392"/>
            <a:ext cx="356617"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5440680" y="1938528"/>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32704" y="1572768"/>
            <a:ext cx="1874519" cy="841248"/>
          </a:xfrm>
          <a:prstGeom prst="rect">
            <a:avLst/>
          </a:prstGeom>
          <a:solidFill>
            <a:srgbClr val="0B0B0B"/>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79008" y="1746504"/>
            <a:ext cx="1581912" cy="219456"/>
          </a:xfrm>
          <a:prstGeom prst="rect">
            <a:avLst/>
          </a:prstGeom>
          <a:noFill/>
        </p:spPr>
        <p:txBody>
          <a:bodyPr wrap="square" anchor="t" lIns="0" rIns="0" tIns="0" bIns="0">
            <a:noAutofit/>
          </a:bodyPr>
          <a:lstStyle/>
          <a:p>
            <a:pPr algn="ctr">
              <a:lnSpc>
                <a:spcPct val="100000"/>
              </a:lnSpc>
              <a:spcAft>
                <a:spcPts val="0"/>
              </a:spcAft>
            </a:pPr>
            <a:r>
              <a:rPr sz="1400" b="1">
                <a:solidFill>
                  <a:srgbClr val="FFFFFF"/>
                </a:solidFill>
                <a:latin typeface="DIN Condensed"/>
              </a:rPr>
              <a:t>COMMIT</a:t>
            </a:r>
          </a:p>
        </p:txBody>
      </p:sp>
      <p:sp>
        <p:nvSpPr>
          <p:cNvPr id="17" name="TextBox 16"/>
          <p:cNvSpPr txBox="1"/>
          <p:nvPr/>
        </p:nvSpPr>
        <p:spPr>
          <a:xfrm>
            <a:off x="5742432" y="2075688"/>
            <a:ext cx="1655064" cy="201168"/>
          </a:xfrm>
          <a:prstGeom prst="rect">
            <a:avLst/>
          </a:prstGeom>
          <a:noFill/>
        </p:spPr>
        <p:txBody>
          <a:bodyPr wrap="square" anchor="t" lIns="0" rIns="0" tIns="0" bIns="0">
            <a:noAutofit/>
          </a:bodyPr>
          <a:lstStyle/>
          <a:p>
            <a:pPr algn="ctr">
              <a:lnSpc>
                <a:spcPct val="100000"/>
              </a:lnSpc>
              <a:spcAft>
                <a:spcPts val="0"/>
              </a:spcAft>
            </a:pPr>
            <a:r>
              <a:rPr sz="1150" b="1">
                <a:solidFill>
                  <a:srgbClr val="D7D6CF"/>
                </a:solidFill>
                <a:latin typeface="Avenir Next"/>
              </a:rPr>
              <a:t>revalidated target</a:t>
            </a:r>
          </a:p>
        </p:txBody>
      </p:sp>
      <p:cxnSp>
        <p:nvCxnSpPr>
          <p:cNvPr id="18" name="Connector 17"/>
          <p:cNvCxnSpPr/>
          <p:nvPr/>
        </p:nvCxnSpPr>
        <p:spPr>
          <a:xfrm>
            <a:off x="7580375" y="1993392"/>
            <a:ext cx="356617" cy="0"/>
          </a:xfrm>
          <a:prstGeom prst="line">
            <a:avLst/>
          </a:prstGeom>
          <a:ln w="15240">
            <a:solidFill>
              <a:srgbClr val="64645F"/>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7882127" y="1938528"/>
            <a:ext cx="109728" cy="109728"/>
          </a:xfrm>
          <a:prstGeom prst="triangle">
            <a:avLst/>
          </a:prstGeom>
          <a:solidFill>
            <a:srgbClr val="646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1572768"/>
            <a:ext cx="1874519" cy="841248"/>
          </a:xfrm>
          <a:prstGeom prst="rect">
            <a:avLst/>
          </a:prstGeom>
          <a:solidFill>
            <a:srgbClr val="FFFFF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6" y="1746504"/>
            <a:ext cx="1581912" cy="219456"/>
          </a:xfrm>
          <a:prstGeom prst="rect">
            <a:avLst/>
          </a:prstGeom>
          <a:noFill/>
        </p:spPr>
        <p:txBody>
          <a:bodyPr wrap="square" anchor="t" lIns="0" rIns="0" tIns="0" bIns="0">
            <a:noAutofit/>
          </a:bodyPr>
          <a:lstStyle/>
          <a:p>
            <a:pPr algn="ctr">
              <a:lnSpc>
                <a:spcPct val="100000"/>
              </a:lnSpc>
              <a:spcAft>
                <a:spcPts val="0"/>
              </a:spcAft>
            </a:pPr>
            <a:r>
              <a:rPr sz="1400" b="1">
                <a:solidFill>
                  <a:srgbClr val="0B0B0B"/>
                </a:solidFill>
                <a:latin typeface="DIN Condensed"/>
              </a:rPr>
              <a:t>HOLD</a:t>
            </a:r>
          </a:p>
        </p:txBody>
      </p:sp>
      <p:sp>
        <p:nvSpPr>
          <p:cNvPr id="22" name="TextBox 21"/>
          <p:cNvSpPr txBox="1"/>
          <p:nvPr/>
        </p:nvSpPr>
        <p:spPr>
          <a:xfrm>
            <a:off x="8183879" y="2075688"/>
            <a:ext cx="1655064" cy="201168"/>
          </a:xfrm>
          <a:prstGeom prst="rect">
            <a:avLst/>
          </a:prstGeom>
          <a:noFill/>
        </p:spPr>
        <p:txBody>
          <a:bodyPr wrap="square" anchor="t" lIns="0" rIns="0" tIns="0" bIns="0">
            <a:noAutofit/>
          </a:bodyPr>
          <a:lstStyle/>
          <a:p>
            <a:pPr algn="ctr">
              <a:lnSpc>
                <a:spcPct val="100000"/>
              </a:lnSpc>
              <a:spcAft>
                <a:spcPts val="0"/>
              </a:spcAft>
            </a:pPr>
            <a:r>
              <a:rPr sz="1150" b="1">
                <a:solidFill>
                  <a:srgbClr val="64645F"/>
                </a:solidFill>
                <a:latin typeface="Avenir Next"/>
              </a:rPr>
              <a:t>complete / brief loss</a:t>
            </a:r>
          </a:p>
        </p:txBody>
      </p:sp>
      <p:sp>
        <p:nvSpPr>
          <p:cNvPr id="23" name="Rectangle 22"/>
          <p:cNvSpPr/>
          <p:nvPr/>
        </p:nvSpPr>
        <p:spPr>
          <a:xfrm>
            <a:off x="10543032" y="1572768"/>
            <a:ext cx="749808" cy="841248"/>
          </a:xfrm>
          <a:prstGeom prst="rect">
            <a:avLst/>
          </a:prstGeom>
          <a:noFill/>
          <a:ln w="12700">
            <a:solidFill>
              <a:srgbClr val="64645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79608" y="1755648"/>
            <a:ext cx="676656" cy="210312"/>
          </a:xfrm>
          <a:prstGeom prst="rect">
            <a:avLst/>
          </a:prstGeom>
          <a:noFill/>
        </p:spPr>
        <p:txBody>
          <a:bodyPr wrap="square" anchor="t" lIns="0" rIns="0" tIns="0" bIns="0">
            <a:noAutofit/>
          </a:bodyPr>
          <a:lstStyle/>
          <a:p>
            <a:pPr algn="ctr">
              <a:lnSpc>
                <a:spcPct val="100000"/>
              </a:lnSpc>
              <a:spcAft>
                <a:spcPts val="0"/>
              </a:spcAft>
            </a:pPr>
            <a:r>
              <a:rPr sz="1150" b="1">
                <a:solidFill>
                  <a:srgbClr val="64645F"/>
                </a:solidFill>
                <a:latin typeface="DIN Condensed"/>
              </a:rPr>
              <a:t>EXPIRE</a:t>
            </a:r>
          </a:p>
        </p:txBody>
      </p:sp>
      <p:sp>
        <p:nvSpPr>
          <p:cNvPr id="25" name="TextBox 24"/>
          <p:cNvSpPr txBox="1"/>
          <p:nvPr/>
        </p:nvSpPr>
        <p:spPr>
          <a:xfrm>
            <a:off x="10579608" y="2093976"/>
            <a:ext cx="676656" cy="182880"/>
          </a:xfrm>
          <a:prstGeom prst="rect">
            <a:avLst/>
          </a:prstGeom>
          <a:noFill/>
        </p:spPr>
        <p:txBody>
          <a:bodyPr wrap="square" anchor="t" lIns="0" rIns="0" tIns="0" bIns="0">
            <a:noAutofit/>
          </a:bodyPr>
          <a:lstStyle/>
          <a:p>
            <a:pPr algn="ctr">
              <a:lnSpc>
                <a:spcPct val="100000"/>
              </a:lnSpc>
              <a:spcAft>
                <a:spcPts val="0"/>
              </a:spcAft>
            </a:pPr>
            <a:r>
              <a:rPr sz="980" b="1">
                <a:solidFill>
                  <a:srgbClr val="64645F"/>
                </a:solidFill>
                <a:latin typeface="Avenir Next"/>
              </a:rPr>
              <a:t>stale</a:t>
            </a:r>
          </a:p>
        </p:txBody>
      </p:sp>
      <p:sp>
        <p:nvSpPr>
          <p:cNvPr id="26" name="TextBox 25"/>
          <p:cNvSpPr txBox="1"/>
          <p:nvPr/>
        </p:nvSpPr>
        <p:spPr>
          <a:xfrm>
            <a:off x="749808" y="2971800"/>
            <a:ext cx="5760720" cy="685800"/>
          </a:xfrm>
          <a:prstGeom prst="rect">
            <a:avLst/>
          </a:prstGeom>
          <a:noFill/>
        </p:spPr>
        <p:txBody>
          <a:bodyPr wrap="square" anchor="t" lIns="0" rIns="0" tIns="0" bIns="0">
            <a:noAutofit/>
          </a:bodyPr>
          <a:lstStyle/>
          <a:p>
            <a:pPr algn="l">
              <a:lnSpc>
                <a:spcPct val="95000"/>
              </a:lnSpc>
              <a:spcAft>
                <a:spcPts val="0"/>
              </a:spcAft>
            </a:pPr>
            <a:r>
              <a:rPr sz="2500" b="1">
                <a:solidFill>
                  <a:srgbClr val="0B0B0B"/>
                </a:solidFill>
                <a:latin typeface="Avenir Next"/>
              </a:rPr>
              <a:t>A target is rejected when
any boundary fails.</a:t>
            </a:r>
          </a:p>
        </p:txBody>
      </p:sp>
      <p:sp>
        <p:nvSpPr>
          <p:cNvPr id="27" name="Oval 26"/>
          <p:cNvSpPr/>
          <p:nvPr/>
        </p:nvSpPr>
        <p:spPr>
          <a:xfrm>
            <a:off x="768096" y="3931920"/>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3858768"/>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fresh RGB + paired depth</a:t>
            </a:r>
          </a:p>
        </p:txBody>
      </p:sp>
      <p:sp>
        <p:nvSpPr>
          <p:cNvPr id="29" name="Oval 28"/>
          <p:cNvSpPr/>
          <p:nvPr/>
        </p:nvSpPr>
        <p:spPr>
          <a:xfrm>
            <a:off x="4590288" y="3931920"/>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1183" y="3858768"/>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measured arm state</a:t>
            </a:r>
          </a:p>
        </p:txBody>
      </p:sp>
      <p:sp>
        <p:nvSpPr>
          <p:cNvPr id="31" name="Oval 30"/>
          <p:cNvSpPr/>
          <p:nvPr/>
        </p:nvSpPr>
        <p:spPr>
          <a:xfrm>
            <a:off x="768096" y="4443983"/>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992" y="4370831"/>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joint + discontinuity limits</a:t>
            </a:r>
          </a:p>
        </p:txBody>
      </p:sp>
      <p:sp>
        <p:nvSpPr>
          <p:cNvPr id="33" name="Oval 32"/>
          <p:cNvSpPr/>
          <p:nvPr/>
        </p:nvSpPr>
        <p:spPr>
          <a:xfrm>
            <a:off x="4590288" y="4443983"/>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01183" y="4370831"/>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self-collision + swept path</a:t>
            </a:r>
          </a:p>
        </p:txBody>
      </p:sp>
      <p:sp>
        <p:nvSpPr>
          <p:cNvPr id="35" name="Oval 34"/>
          <p:cNvSpPr/>
          <p:nvPr/>
        </p:nvSpPr>
        <p:spPr>
          <a:xfrm>
            <a:off x="768096" y="4956048"/>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992" y="4882896"/>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table-plane clearance</a:t>
            </a:r>
          </a:p>
        </p:txBody>
      </p:sp>
      <p:sp>
        <p:nvSpPr>
          <p:cNvPr id="37" name="Oval 36"/>
          <p:cNvSpPr/>
          <p:nvPr/>
        </p:nvSpPr>
        <p:spPr>
          <a:xfrm>
            <a:off x="4590288" y="4956048"/>
            <a:ext cx="146304" cy="146304"/>
          </a:xfrm>
          <a:prstGeom prst="ellipse">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01183" y="4882896"/>
            <a:ext cx="3310128" cy="256032"/>
          </a:xfrm>
          <a:prstGeom prst="rect">
            <a:avLst/>
          </a:prstGeom>
          <a:noFill/>
        </p:spPr>
        <p:txBody>
          <a:bodyPr wrap="square" anchor="t" lIns="0" rIns="0" tIns="0" bIns="0">
            <a:noAutofit/>
          </a:bodyPr>
          <a:lstStyle/>
          <a:p>
            <a:pPr algn="l">
              <a:lnSpc>
                <a:spcPct val="108000"/>
              </a:lnSpc>
              <a:spcAft>
                <a:spcPts val="0"/>
              </a:spcAft>
            </a:pPr>
            <a:r>
              <a:rPr sz="1650" b="0">
                <a:solidFill>
                  <a:srgbClr val="0B0B0B"/>
                </a:solidFill>
                <a:latin typeface="Avenir Next"/>
              </a:rPr>
              <a:t>heartbeat + following error</a:t>
            </a:r>
          </a:p>
        </p:txBody>
      </p:sp>
      <p:sp>
        <p:nvSpPr>
          <p:cNvPr id="39" name="Rectangle 38"/>
          <p:cNvSpPr/>
          <p:nvPr/>
        </p:nvSpPr>
        <p:spPr>
          <a:xfrm>
            <a:off x="8339327" y="3154680"/>
            <a:ext cx="2834640" cy="2167128"/>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1080" y="3456432"/>
            <a:ext cx="2240280" cy="594360"/>
          </a:xfrm>
          <a:prstGeom prst="rect">
            <a:avLst/>
          </a:prstGeom>
          <a:noFill/>
        </p:spPr>
        <p:txBody>
          <a:bodyPr wrap="square" anchor="t" lIns="0" rIns="0" tIns="0" bIns="0">
            <a:noAutofit/>
          </a:bodyPr>
          <a:lstStyle/>
          <a:p>
            <a:pPr algn="ctr">
              <a:lnSpc>
                <a:spcPct val="90000"/>
              </a:lnSpc>
              <a:spcAft>
                <a:spcPts val="0"/>
              </a:spcAft>
            </a:pPr>
            <a:r>
              <a:rPr sz="5000" b="1">
                <a:solidFill>
                  <a:srgbClr val="FFFFFF"/>
                </a:solidFill>
                <a:latin typeface="DIN Condensed"/>
              </a:rPr>
              <a:t>250 Hz</a:t>
            </a:r>
          </a:p>
        </p:txBody>
      </p:sp>
      <p:sp>
        <p:nvSpPr>
          <p:cNvPr id="41" name="TextBox 40"/>
          <p:cNvSpPr txBox="1"/>
          <p:nvPr/>
        </p:nvSpPr>
        <p:spPr>
          <a:xfrm>
            <a:off x="8641080" y="4151376"/>
            <a:ext cx="2240280" cy="256032"/>
          </a:xfrm>
          <a:prstGeom prst="rect">
            <a:avLst/>
          </a:prstGeom>
          <a:noFill/>
        </p:spPr>
        <p:txBody>
          <a:bodyPr wrap="square" anchor="t" lIns="0" rIns="0" tIns="0" bIns="0">
            <a:noAutofit/>
          </a:bodyPr>
          <a:lstStyle/>
          <a:p>
            <a:pPr algn="ctr">
              <a:lnSpc>
                <a:spcPct val="100000"/>
              </a:lnSpc>
              <a:spcAft>
                <a:spcPts val="0"/>
              </a:spcAft>
            </a:pPr>
            <a:r>
              <a:rPr sz="1400" b="1">
                <a:solidFill>
                  <a:srgbClr val="D7D6CF"/>
                </a:solidFill>
                <a:latin typeface="DIN Condensed"/>
              </a:rPr>
              <a:t>robot-local guard</a:t>
            </a:r>
          </a:p>
        </p:txBody>
      </p:sp>
      <p:sp>
        <p:nvSpPr>
          <p:cNvPr id="42" name="TextBox 41"/>
          <p:cNvSpPr txBox="1"/>
          <p:nvPr/>
        </p:nvSpPr>
        <p:spPr>
          <a:xfrm>
            <a:off x="8622792" y="4608576"/>
            <a:ext cx="2276856" cy="493776"/>
          </a:xfrm>
          <a:prstGeom prst="rect">
            <a:avLst/>
          </a:prstGeom>
          <a:noFill/>
        </p:spPr>
        <p:txBody>
          <a:bodyPr wrap="square" anchor="t" lIns="0" rIns="0" tIns="0" bIns="0">
            <a:noAutofit/>
          </a:bodyPr>
          <a:lstStyle/>
          <a:p>
            <a:pPr algn="ctr">
              <a:lnSpc>
                <a:spcPct val="100000"/>
              </a:lnSpc>
              <a:spcAft>
                <a:spcPts val="0"/>
              </a:spcAft>
            </a:pPr>
            <a:r>
              <a:rPr sz="1100" b="1">
                <a:solidFill>
                  <a:srgbClr val="D7D6CF"/>
                </a:solidFill>
                <a:latin typeface="Avenir Next"/>
              </a:rPr>
              <a:t>network or heartbeat loss
triggers a bounded release</a:t>
            </a:r>
          </a:p>
        </p:txBody>
      </p:sp>
      <p:sp>
        <p:nvSpPr>
          <p:cNvPr id="43" name="TextBox 42"/>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Describe only the behavior actually observed during the live attempt</a:t>
            </a:r>
          </a:p>
        </p:txBody>
      </p:sp>
      <p:sp>
        <p:nvSpPr>
          <p:cNvPr id="44" name="TextBox 43"/>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The remaining question is physical, not computational</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10</a:t>
            </a:r>
          </a:p>
        </p:txBody>
      </p:sp>
      <p:sp>
        <p:nvSpPr>
          <p:cNvPr id="5" name="Rectangle 4"/>
          <p:cNvSpPr/>
          <p:nvPr/>
        </p:nvSpPr>
        <p:spPr>
          <a:xfrm>
            <a:off x="749808" y="1444752"/>
            <a:ext cx="3246120" cy="3218688"/>
          </a:xfrm>
          <a:prstGeom prst="rect">
            <a:avLst/>
          </a:prstGeom>
          <a:solidFill>
            <a:srgbClr val="0B0B0B"/>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700784"/>
            <a:ext cx="2816352" cy="256032"/>
          </a:xfrm>
          <a:prstGeom prst="rect">
            <a:avLst/>
          </a:prstGeom>
          <a:noFill/>
        </p:spPr>
        <p:txBody>
          <a:bodyPr wrap="square" anchor="t" lIns="0" rIns="0" tIns="0" bIns="0">
            <a:noAutofit/>
          </a:bodyPr>
          <a:lstStyle/>
          <a:p>
            <a:pPr algn="l">
              <a:lnSpc>
                <a:spcPct val="100000"/>
              </a:lnSpc>
              <a:spcAft>
                <a:spcPts val="0"/>
              </a:spcAft>
            </a:pPr>
            <a:r>
              <a:rPr sz="1400" b="1">
                <a:solidFill>
                  <a:srgbClr val="D7D6CF"/>
                </a:solidFill>
                <a:latin typeface="DIN Condensed"/>
              </a:rPr>
              <a:t>DEMONSTRATED</a:t>
            </a:r>
          </a:p>
        </p:txBody>
      </p:sp>
      <p:cxnSp>
        <p:nvCxnSpPr>
          <p:cNvPr id="7" name="Connector 6"/>
          <p:cNvCxnSpPr/>
          <p:nvPr/>
        </p:nvCxnSpPr>
        <p:spPr>
          <a:xfrm>
            <a:off x="950976" y="2176272"/>
            <a:ext cx="2798063" cy="0"/>
          </a:xfrm>
          <a:prstGeom prst="line">
            <a:avLst/>
          </a:prstGeom>
          <a:ln w="8890">
            <a:solidFill>
              <a:srgbClr val="6464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50976" y="2267712"/>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FFFFFF"/>
                </a:solidFill>
                <a:latin typeface="Avenir Next"/>
              </a:rPr>
              <a:t>live perception</a:t>
            </a:r>
          </a:p>
        </p:txBody>
      </p:sp>
      <p:cxnSp>
        <p:nvCxnSpPr>
          <p:cNvPr id="9" name="Connector 8"/>
          <p:cNvCxnSpPr/>
          <p:nvPr/>
        </p:nvCxnSpPr>
        <p:spPr>
          <a:xfrm>
            <a:off x="950976" y="2834640"/>
            <a:ext cx="2798063" cy="0"/>
          </a:xfrm>
          <a:prstGeom prst="line">
            <a:avLst/>
          </a:prstGeom>
          <a:ln w="8890">
            <a:solidFill>
              <a:srgbClr val="64645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50976" y="2926080"/>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FFFFFF"/>
                </a:solidFill>
                <a:latin typeface="Avenir Next"/>
              </a:rPr>
              <a:t>guarded arm movement</a:t>
            </a:r>
          </a:p>
        </p:txBody>
      </p:sp>
      <p:cxnSp>
        <p:nvCxnSpPr>
          <p:cNvPr id="11" name="Connector 10"/>
          <p:cNvCxnSpPr/>
          <p:nvPr/>
        </p:nvCxnSpPr>
        <p:spPr>
          <a:xfrm>
            <a:off x="950976" y="3493008"/>
            <a:ext cx="2798063" cy="0"/>
          </a:xfrm>
          <a:prstGeom prst="line">
            <a:avLst/>
          </a:prstGeom>
          <a:ln w="8890">
            <a:solidFill>
              <a:srgbClr val="64645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50976" y="3584448"/>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FFFFFF"/>
                </a:solidFill>
                <a:latin typeface="Avenir Next"/>
              </a:rPr>
              <a:t>physical bunny tracking</a:t>
            </a:r>
          </a:p>
        </p:txBody>
      </p:sp>
      <p:sp>
        <p:nvSpPr>
          <p:cNvPr id="13" name="Rectangle 12"/>
          <p:cNvSpPr/>
          <p:nvPr/>
        </p:nvSpPr>
        <p:spPr>
          <a:xfrm>
            <a:off x="4425696" y="1444752"/>
            <a:ext cx="3246120" cy="3218688"/>
          </a:xfrm>
          <a:prstGeom prst="rect">
            <a:avLst/>
          </a:prstGeom>
          <a:solidFill>
            <a:srgbClr val="FFFFFF"/>
          </a:solidFill>
          <a:ln w="1524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864" y="1700784"/>
            <a:ext cx="2816352" cy="256032"/>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OFFLINE EVIDENCE</a:t>
            </a:r>
          </a:p>
        </p:txBody>
      </p:sp>
      <p:cxnSp>
        <p:nvCxnSpPr>
          <p:cNvPr id="15" name="Connector 14"/>
          <p:cNvCxnSpPr/>
          <p:nvPr/>
        </p:nvCxnSpPr>
        <p:spPr>
          <a:xfrm>
            <a:off x="4626864" y="2176272"/>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26864" y="2267712"/>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547-episode data contract</a:t>
            </a:r>
          </a:p>
        </p:txBody>
      </p:sp>
      <p:cxnSp>
        <p:nvCxnSpPr>
          <p:cNvPr id="17" name="Connector 16"/>
          <p:cNvCxnSpPr/>
          <p:nvPr/>
        </p:nvCxnSpPr>
        <p:spPr>
          <a:xfrm>
            <a:off x="4626864" y="2834640"/>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26864" y="2926080"/>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VLA ablations</a:t>
            </a:r>
          </a:p>
        </p:txBody>
      </p:sp>
      <p:cxnSp>
        <p:nvCxnSpPr>
          <p:cNvPr id="19" name="Connector 18"/>
          <p:cNvCxnSpPr/>
          <p:nvPr/>
        </p:nvCxnSpPr>
        <p:spPr>
          <a:xfrm>
            <a:off x="4626864" y="3493008"/>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26864" y="3584448"/>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analytic IK benchmark</a:t>
            </a:r>
          </a:p>
        </p:txBody>
      </p:sp>
      <p:sp>
        <p:nvSpPr>
          <p:cNvPr id="21" name="Rectangle 20"/>
          <p:cNvSpPr/>
          <p:nvPr/>
        </p:nvSpPr>
        <p:spPr>
          <a:xfrm>
            <a:off x="8101583" y="1444752"/>
            <a:ext cx="3246120" cy="3218688"/>
          </a:xfrm>
          <a:prstGeom prst="rect">
            <a:avLst/>
          </a:prstGeom>
          <a:noFill/>
          <a:ln w="15240">
            <a:solidFill>
              <a:srgbClr val="64645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2752" y="1700784"/>
            <a:ext cx="2816352" cy="256032"/>
          </a:xfrm>
          <a:prstGeom prst="rect">
            <a:avLst/>
          </a:prstGeom>
          <a:noFill/>
        </p:spPr>
        <p:txBody>
          <a:bodyPr wrap="square" anchor="t" lIns="0" rIns="0" tIns="0" bIns="0">
            <a:noAutofit/>
          </a:bodyPr>
          <a:lstStyle/>
          <a:p>
            <a:pPr algn="l">
              <a:lnSpc>
                <a:spcPct val="100000"/>
              </a:lnSpc>
              <a:spcAft>
                <a:spcPts val="0"/>
              </a:spcAft>
            </a:pPr>
            <a:r>
              <a:rPr sz="1400" b="1">
                <a:solidFill>
                  <a:srgbClr val="64645F"/>
                </a:solidFill>
                <a:latin typeface="DIN Condensed"/>
              </a:rPr>
              <a:t>PENDING</a:t>
            </a:r>
          </a:p>
        </p:txBody>
      </p:sp>
      <p:cxnSp>
        <p:nvCxnSpPr>
          <p:cNvPr id="23" name="Connector 22"/>
          <p:cNvCxnSpPr/>
          <p:nvPr/>
        </p:nvCxnSpPr>
        <p:spPr>
          <a:xfrm>
            <a:off x="8302752" y="2176272"/>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302752" y="2267712"/>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repeatable fast tracking</a:t>
            </a:r>
          </a:p>
        </p:txBody>
      </p:sp>
      <p:cxnSp>
        <p:nvCxnSpPr>
          <p:cNvPr id="25" name="Connector 24"/>
          <p:cNvCxnSpPr/>
          <p:nvPr/>
        </p:nvCxnSpPr>
        <p:spPr>
          <a:xfrm>
            <a:off x="8302752" y="2834640"/>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02752" y="2926080"/>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fault-response validation</a:t>
            </a:r>
          </a:p>
        </p:txBody>
      </p:sp>
      <p:cxnSp>
        <p:nvCxnSpPr>
          <p:cNvPr id="27" name="Connector 26"/>
          <p:cNvCxnSpPr/>
          <p:nvPr/>
        </p:nvCxnSpPr>
        <p:spPr>
          <a:xfrm>
            <a:off x="8302752" y="3493008"/>
            <a:ext cx="2798063"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302752" y="3584448"/>
            <a:ext cx="2743200" cy="310896"/>
          </a:xfrm>
          <a:prstGeom prst="rect">
            <a:avLst/>
          </a:prstGeom>
          <a:noFill/>
        </p:spPr>
        <p:txBody>
          <a:bodyPr wrap="square" anchor="t" lIns="0" rIns="0" tIns="0" bIns="0">
            <a:noAutofit/>
          </a:bodyPr>
          <a:lstStyle/>
          <a:p>
            <a:pPr algn="l">
              <a:lnSpc>
                <a:spcPct val="105000"/>
              </a:lnSpc>
              <a:spcAft>
                <a:spcPts val="0"/>
              </a:spcAft>
            </a:pPr>
            <a:r>
              <a:rPr sz="1650" b="1">
                <a:solidFill>
                  <a:srgbClr val="0B0B0B"/>
                </a:solidFill>
                <a:latin typeface="Avenir Next"/>
              </a:rPr>
              <a:t>bounded interception outcome</a:t>
            </a:r>
          </a:p>
        </p:txBody>
      </p:sp>
      <p:sp>
        <p:nvSpPr>
          <p:cNvPr id="29" name="TextBox 28"/>
          <p:cNvSpPr txBox="1"/>
          <p:nvPr/>
        </p:nvSpPr>
        <p:spPr>
          <a:xfrm>
            <a:off x="749808" y="5102352"/>
            <a:ext cx="3675887" cy="365760"/>
          </a:xfrm>
          <a:prstGeom prst="rect">
            <a:avLst/>
          </a:prstGeom>
          <a:noFill/>
        </p:spPr>
        <p:txBody>
          <a:bodyPr wrap="square" anchor="t" lIns="0" rIns="0" tIns="0" bIns="0">
            <a:noAutofit/>
          </a:bodyPr>
          <a:lstStyle/>
          <a:p>
            <a:pPr algn="l">
              <a:lnSpc>
                <a:spcPct val="110000"/>
              </a:lnSpc>
              <a:spcAft>
                <a:spcPts val="0"/>
              </a:spcAft>
            </a:pPr>
            <a:r>
              <a:rPr sz="1900" b="1">
                <a:solidFill>
                  <a:srgbClr val="0B0B0B"/>
                </a:solidFill>
                <a:latin typeface="Avenir Next"/>
              </a:rPr>
              <a:t>No verified fingered grasp.</a:t>
            </a:r>
          </a:p>
        </p:txBody>
      </p:sp>
      <p:sp>
        <p:nvSpPr>
          <p:cNvPr id="30" name="TextBox 29"/>
          <p:cNvSpPr txBox="1"/>
          <p:nvPr/>
        </p:nvSpPr>
        <p:spPr>
          <a:xfrm>
            <a:off x="4425696" y="5102352"/>
            <a:ext cx="3685032" cy="365760"/>
          </a:xfrm>
          <a:prstGeom prst="rect">
            <a:avLst/>
          </a:prstGeom>
          <a:noFill/>
        </p:spPr>
        <p:txBody>
          <a:bodyPr wrap="square" anchor="t" lIns="0" rIns="0" tIns="0" bIns="0">
            <a:noAutofit/>
          </a:bodyPr>
          <a:lstStyle/>
          <a:p>
            <a:pPr algn="l">
              <a:lnSpc>
                <a:spcPct val="110000"/>
              </a:lnSpc>
              <a:spcAft>
                <a:spcPts val="0"/>
              </a:spcAft>
            </a:pPr>
            <a:r>
              <a:rPr sz="1900" b="1">
                <a:solidFill>
                  <a:srgbClr val="0B0B0B"/>
                </a:solidFill>
                <a:latin typeface="Avenir Next"/>
              </a:rPr>
              <a:t>No standardized physical success rate.</a:t>
            </a:r>
          </a:p>
        </p:txBody>
      </p:sp>
      <p:sp>
        <p:nvSpPr>
          <p:cNvPr id="31" name="TextBox 30"/>
          <p:cNvSpPr txBox="1"/>
          <p:nvPr/>
        </p:nvSpPr>
        <p:spPr>
          <a:xfrm>
            <a:off x="8119872" y="5102352"/>
            <a:ext cx="2962656" cy="365760"/>
          </a:xfrm>
          <a:prstGeom prst="rect">
            <a:avLst/>
          </a:prstGeom>
          <a:noFill/>
        </p:spPr>
        <p:txBody>
          <a:bodyPr wrap="square" anchor="t" lIns="0" rIns="0" tIns="0" bIns="0">
            <a:noAutofit/>
          </a:bodyPr>
          <a:lstStyle/>
          <a:p>
            <a:pPr algn="l">
              <a:lnSpc>
                <a:spcPct val="110000"/>
              </a:lnSpc>
              <a:spcAft>
                <a:spcPts val="0"/>
              </a:spcAft>
            </a:pPr>
            <a:r>
              <a:rPr sz="1900" b="1">
                <a:solidFill>
                  <a:srgbClr val="0B0B0B"/>
                </a:solidFill>
                <a:latin typeface="Avenir Next"/>
              </a:rPr>
              <a:t>No learned policy authorized.</a:t>
            </a:r>
          </a:p>
        </p:txBody>
      </p:sp>
      <p:cxnSp>
        <p:nvCxnSpPr>
          <p:cNvPr id="32" name="Connector 31"/>
          <p:cNvCxnSpPr/>
          <p:nvPr/>
        </p:nvCxnSpPr>
        <p:spPr>
          <a:xfrm>
            <a:off x="749808" y="5742432"/>
            <a:ext cx="10296144" cy="0"/>
          </a:xfrm>
          <a:prstGeom prst="line">
            <a:avLst/>
          </a:prstGeom>
          <a:ln w="15240">
            <a:solidFill>
              <a:srgbClr val="0B0B0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9808" y="5916168"/>
            <a:ext cx="1901952" cy="274320"/>
          </a:xfrm>
          <a:prstGeom prst="rect">
            <a:avLst/>
          </a:prstGeom>
          <a:noFill/>
        </p:spPr>
        <p:txBody>
          <a:bodyPr wrap="square" anchor="t" lIns="0" rIns="0" tIns="0" bIns="0">
            <a:noAutofit/>
          </a:bodyPr>
          <a:lstStyle/>
          <a:p>
            <a:pPr algn="l">
              <a:lnSpc>
                <a:spcPct val="100000"/>
              </a:lnSpc>
              <a:spcAft>
                <a:spcPts val="0"/>
              </a:spcAft>
            </a:pPr>
            <a:r>
              <a:rPr sz="1400" b="1">
                <a:solidFill>
                  <a:srgbClr val="0B0B0B"/>
                </a:solidFill>
                <a:latin typeface="DIN Condensed"/>
              </a:rPr>
              <a:t>The final hypothesis:</a:t>
            </a:r>
          </a:p>
        </p:txBody>
      </p:sp>
      <p:sp>
        <p:nvSpPr>
          <p:cNvPr id="34" name="TextBox 33"/>
          <p:cNvSpPr txBox="1"/>
          <p:nvPr/>
        </p:nvSpPr>
        <p:spPr>
          <a:xfrm>
            <a:off x="2761488" y="5861304"/>
            <a:ext cx="8284464" cy="384048"/>
          </a:xfrm>
          <a:prstGeom prst="rect">
            <a:avLst/>
          </a:prstGeom>
          <a:noFill/>
        </p:spPr>
        <p:txBody>
          <a:bodyPr wrap="square" anchor="t" lIns="0" rIns="0" tIns="0" bIns="0">
            <a:noAutofit/>
          </a:bodyPr>
          <a:lstStyle/>
          <a:p>
            <a:pPr algn="l">
              <a:lnSpc>
                <a:spcPct val="105000"/>
              </a:lnSpc>
              <a:spcAft>
                <a:spcPts val="0"/>
              </a:spcAft>
            </a:pPr>
            <a:r>
              <a:rPr sz="1750" b="1">
                <a:solidFill>
                  <a:srgbClr val="0B0B0B"/>
                </a:solidFill>
                <a:latin typeface="Avenir Next"/>
              </a:rPr>
              <a:t>faster local control can preserve tracking quality while reducing enough lag for interception.</a:t>
            </a:r>
          </a:p>
        </p:txBody>
      </p:sp>
      <p:sp>
        <p:nvSpPr>
          <p:cNvPr id="35" name="TextBox 34"/>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Demonstrated, offline, and pending are intentionally separated</a:t>
            </a:r>
          </a:p>
        </p:txBody>
      </p:sp>
      <p:sp>
        <p:nvSpPr>
          <p:cNvPr id="36" name="TextBox 35"/>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658368" y="566928"/>
            <a:ext cx="10698480" cy="694944"/>
          </a:xfrm>
          <a:prstGeom prst="rect">
            <a:avLst/>
          </a:prstGeom>
          <a:noFill/>
        </p:spPr>
        <p:txBody>
          <a:bodyPr wrap="square" anchor="t" lIns="0" rIns="0" tIns="0" bIns="0">
            <a:noAutofit/>
          </a:bodyPr>
          <a:lstStyle/>
          <a:p>
            <a:pPr algn="l">
              <a:lnSpc>
                <a:spcPct val="100000"/>
              </a:lnSpc>
              <a:spcAft>
                <a:spcPts val="0"/>
              </a:spcAft>
            </a:pPr>
            <a:r>
              <a:rPr sz="3800" b="1">
                <a:solidFill>
                  <a:srgbClr val="FFFFFF"/>
                </a:solidFill>
                <a:latin typeface="Avenir Next"/>
              </a:rPr>
              <a:t>Evidence—not optimism—determined the final system</a:t>
            </a:r>
          </a:p>
        </p:txBody>
      </p:sp>
      <p:sp>
        <p:nvSpPr>
          <p:cNvPr id="3" name="TextBox 2"/>
          <p:cNvSpPr txBox="1"/>
          <p:nvPr/>
        </p:nvSpPr>
        <p:spPr>
          <a:xfrm>
            <a:off x="749808" y="1554480"/>
            <a:ext cx="2194560" cy="256032"/>
          </a:xfrm>
          <a:prstGeom prst="rect">
            <a:avLst/>
          </a:prstGeom>
          <a:noFill/>
        </p:spPr>
        <p:txBody>
          <a:bodyPr wrap="square" anchor="t" lIns="0" rIns="0" tIns="0" bIns="0">
            <a:noAutofit/>
          </a:bodyPr>
          <a:lstStyle/>
          <a:p>
            <a:pPr algn="l">
              <a:lnSpc>
                <a:spcPct val="100000"/>
              </a:lnSpc>
              <a:spcAft>
                <a:spcPts val="0"/>
              </a:spcAft>
            </a:pPr>
            <a:r>
              <a:rPr sz="1400" b="1">
                <a:solidFill>
                  <a:srgbClr val="D7D6CF"/>
                </a:solidFill>
                <a:latin typeface="DIN Condensed"/>
              </a:rPr>
              <a:t>PHYSICAL TRACKING</a:t>
            </a:r>
          </a:p>
        </p:txBody>
      </p:sp>
      <p:sp>
        <p:nvSpPr>
          <p:cNvPr id="4" name="TextBox 3"/>
          <p:cNvSpPr txBox="1"/>
          <p:nvPr/>
        </p:nvSpPr>
        <p:spPr>
          <a:xfrm>
            <a:off x="3044952" y="1490472"/>
            <a:ext cx="7543800" cy="438912"/>
          </a:xfrm>
          <a:prstGeom prst="rect">
            <a:avLst/>
          </a:prstGeom>
          <a:noFill/>
        </p:spPr>
        <p:txBody>
          <a:bodyPr wrap="square" anchor="t" lIns="0" rIns="0" tIns="0" bIns="0">
            <a:noAutofit/>
          </a:bodyPr>
          <a:lstStyle/>
          <a:p>
            <a:pPr algn="l">
              <a:lnSpc>
                <a:spcPct val="104000"/>
              </a:lnSpc>
              <a:spcAft>
                <a:spcPts val="0"/>
              </a:spcAft>
            </a:pPr>
            <a:r>
              <a:rPr sz="2600" b="1">
                <a:solidFill>
                  <a:srgbClr val="FFFFFF"/>
                </a:solidFill>
                <a:latin typeface="Avenir Next"/>
              </a:rPr>
              <a:t>established that the guarded loop was feasible</a:t>
            </a:r>
          </a:p>
        </p:txBody>
      </p:sp>
      <p:cxnSp>
        <p:nvCxnSpPr>
          <p:cNvPr id="5" name="Connector 4"/>
          <p:cNvCxnSpPr/>
          <p:nvPr/>
        </p:nvCxnSpPr>
        <p:spPr>
          <a:xfrm>
            <a:off x="749808" y="2130552"/>
            <a:ext cx="9966960" cy="0"/>
          </a:xfrm>
          <a:prstGeom prst="line">
            <a:avLst/>
          </a:prstGeom>
          <a:ln w="10160">
            <a:solidFill>
              <a:srgbClr val="6464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606039"/>
            <a:ext cx="2194560" cy="256032"/>
          </a:xfrm>
          <a:prstGeom prst="rect">
            <a:avLst/>
          </a:prstGeom>
          <a:noFill/>
        </p:spPr>
        <p:txBody>
          <a:bodyPr wrap="square" anchor="t" lIns="0" rIns="0" tIns="0" bIns="0">
            <a:noAutofit/>
          </a:bodyPr>
          <a:lstStyle/>
          <a:p>
            <a:pPr algn="l">
              <a:lnSpc>
                <a:spcPct val="100000"/>
              </a:lnSpc>
              <a:spcAft>
                <a:spcPts val="0"/>
              </a:spcAft>
            </a:pPr>
            <a:r>
              <a:rPr sz="1400" b="1">
                <a:solidFill>
                  <a:srgbClr val="D7D6CF"/>
                </a:solidFill>
                <a:latin typeface="DIN Condensed"/>
              </a:rPr>
              <a:t>VLA EXPERIMENTS</a:t>
            </a:r>
          </a:p>
        </p:txBody>
      </p:sp>
      <p:sp>
        <p:nvSpPr>
          <p:cNvPr id="7" name="TextBox 6"/>
          <p:cNvSpPr txBox="1"/>
          <p:nvPr/>
        </p:nvSpPr>
        <p:spPr>
          <a:xfrm>
            <a:off x="3044952" y="2542032"/>
            <a:ext cx="7543800" cy="438912"/>
          </a:xfrm>
          <a:prstGeom prst="rect">
            <a:avLst/>
          </a:prstGeom>
          <a:noFill/>
        </p:spPr>
        <p:txBody>
          <a:bodyPr wrap="square" anchor="t" lIns="0" rIns="0" tIns="0" bIns="0">
            <a:noAutofit/>
          </a:bodyPr>
          <a:lstStyle/>
          <a:p>
            <a:pPr algn="l">
              <a:lnSpc>
                <a:spcPct val="104000"/>
              </a:lnSpc>
              <a:spcAft>
                <a:spcPts val="0"/>
              </a:spcAft>
            </a:pPr>
            <a:r>
              <a:rPr sz="2600" b="1">
                <a:solidFill>
                  <a:srgbClr val="FFFFFF"/>
                </a:solidFill>
                <a:latin typeface="Avenir Next"/>
              </a:rPr>
              <a:t>corrected assumptions about actions, timing, and consistency</a:t>
            </a:r>
          </a:p>
        </p:txBody>
      </p:sp>
      <p:cxnSp>
        <p:nvCxnSpPr>
          <p:cNvPr id="8" name="Connector 7"/>
          <p:cNvCxnSpPr/>
          <p:nvPr/>
        </p:nvCxnSpPr>
        <p:spPr>
          <a:xfrm>
            <a:off x="749808" y="3182111"/>
            <a:ext cx="9966960" cy="0"/>
          </a:xfrm>
          <a:prstGeom prst="line">
            <a:avLst/>
          </a:prstGeom>
          <a:ln w="10160">
            <a:solidFill>
              <a:srgbClr val="64645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9808" y="3657600"/>
            <a:ext cx="2194560" cy="256032"/>
          </a:xfrm>
          <a:prstGeom prst="rect">
            <a:avLst/>
          </a:prstGeom>
          <a:noFill/>
        </p:spPr>
        <p:txBody>
          <a:bodyPr wrap="square" anchor="t" lIns="0" rIns="0" tIns="0" bIns="0">
            <a:noAutofit/>
          </a:bodyPr>
          <a:lstStyle/>
          <a:p>
            <a:pPr algn="l">
              <a:lnSpc>
                <a:spcPct val="100000"/>
              </a:lnSpc>
              <a:spcAft>
                <a:spcPts val="0"/>
              </a:spcAft>
            </a:pPr>
            <a:r>
              <a:rPr sz="1400" b="1">
                <a:solidFill>
                  <a:srgbClr val="D7D6CF"/>
                </a:solidFill>
                <a:latin typeface="DIN Condensed"/>
              </a:rPr>
              <a:t>LOCAL CONTROL</a:t>
            </a:r>
          </a:p>
        </p:txBody>
      </p:sp>
      <p:sp>
        <p:nvSpPr>
          <p:cNvPr id="10" name="TextBox 9"/>
          <p:cNvSpPr txBox="1"/>
          <p:nvPr/>
        </p:nvSpPr>
        <p:spPr>
          <a:xfrm>
            <a:off x="3044952" y="3593592"/>
            <a:ext cx="7543800" cy="438912"/>
          </a:xfrm>
          <a:prstGeom prst="rect">
            <a:avLst/>
          </a:prstGeom>
          <a:noFill/>
        </p:spPr>
        <p:txBody>
          <a:bodyPr wrap="square" anchor="t" lIns="0" rIns="0" tIns="0" bIns="0">
            <a:noAutofit/>
          </a:bodyPr>
          <a:lstStyle/>
          <a:p>
            <a:pPr algn="l">
              <a:lnSpc>
                <a:spcPct val="104000"/>
              </a:lnSpc>
              <a:spcAft>
                <a:spcPts val="0"/>
              </a:spcAft>
            </a:pPr>
            <a:r>
              <a:rPr sz="2600" b="1">
                <a:solidFill>
                  <a:srgbClr val="FFFFFF"/>
                </a:solidFill>
                <a:latin typeface="Avenir Next"/>
              </a:rPr>
              <a:t>created a practical final real-time hypothesis</a:t>
            </a:r>
          </a:p>
        </p:txBody>
      </p:sp>
      <p:cxnSp>
        <p:nvCxnSpPr>
          <p:cNvPr id="11" name="Connector 10"/>
          <p:cNvCxnSpPr/>
          <p:nvPr/>
        </p:nvCxnSpPr>
        <p:spPr>
          <a:xfrm>
            <a:off x="749808" y="4233672"/>
            <a:ext cx="9966960" cy="0"/>
          </a:xfrm>
          <a:prstGeom prst="line">
            <a:avLst/>
          </a:prstGeom>
          <a:ln w="10160">
            <a:solidFill>
              <a:srgbClr val="64645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4846320"/>
            <a:ext cx="8001000" cy="987552"/>
          </a:xfrm>
          <a:prstGeom prst="rect">
            <a:avLst/>
          </a:prstGeom>
          <a:noFill/>
        </p:spPr>
        <p:txBody>
          <a:bodyPr wrap="square" anchor="t" lIns="0" rIns="0" tIns="0" bIns="0">
            <a:noAutofit/>
          </a:bodyPr>
          <a:lstStyle/>
          <a:p>
            <a:pPr algn="l">
              <a:lnSpc>
                <a:spcPct val="104000"/>
              </a:lnSpc>
              <a:spcAft>
                <a:spcPts val="0"/>
              </a:spcAft>
            </a:pPr>
            <a:r>
              <a:rPr sz="3400" b="1">
                <a:solidFill>
                  <a:srgbClr val="FFFFFF"/>
                </a:solidFill>
                <a:latin typeface="Avenir Next"/>
              </a:rPr>
              <a:t>Can it follow fast enough—
with evidence and safety?</a:t>
            </a:r>
          </a:p>
        </p:txBody>
      </p:sp>
      <p:sp>
        <p:nvSpPr>
          <p:cNvPr id="13" name="TextBox 12"/>
          <p:cNvSpPr txBox="1"/>
          <p:nvPr/>
        </p:nvSpPr>
        <p:spPr>
          <a:xfrm>
            <a:off x="9326880" y="5340096"/>
            <a:ext cx="1417320" cy="310896"/>
          </a:xfrm>
          <a:prstGeom prst="rect">
            <a:avLst/>
          </a:prstGeom>
          <a:noFill/>
        </p:spPr>
        <p:txBody>
          <a:bodyPr wrap="square" anchor="t" lIns="0" rIns="0" tIns="0" bIns="0">
            <a:noAutofit/>
          </a:bodyPr>
          <a:lstStyle/>
          <a:p>
            <a:pPr algn="r">
              <a:lnSpc>
                <a:spcPct val="110000"/>
              </a:lnSpc>
              <a:spcAft>
                <a:spcPts val="0"/>
              </a:spcAft>
            </a:pPr>
            <a:r>
              <a:rPr sz="2100" b="1">
                <a:solidFill>
                  <a:srgbClr val="D7D6CF"/>
                </a:solidFill>
                <a:latin typeface="Avenir Next"/>
              </a:rPr>
              <a:t>Questions</a:t>
            </a:r>
          </a:p>
        </p:txBody>
      </p:sp>
      <p:sp>
        <p:nvSpPr>
          <p:cNvPr id="14" name="TextBox 13"/>
          <p:cNvSpPr txBox="1"/>
          <p:nvPr/>
        </p:nvSpPr>
        <p:spPr>
          <a:xfrm>
            <a:off x="749808" y="6236208"/>
            <a:ext cx="4846320" cy="219456"/>
          </a:xfrm>
          <a:prstGeom prst="rect">
            <a:avLst/>
          </a:prstGeom>
          <a:noFill/>
        </p:spPr>
        <p:txBody>
          <a:bodyPr wrap="square" anchor="t" lIns="0" rIns="0" tIns="0" bIns="0">
            <a:noAutofit/>
          </a:bodyPr>
          <a:lstStyle/>
          <a:p>
            <a:pPr algn="l">
              <a:lnSpc>
                <a:spcPct val="100000"/>
              </a:lnSpc>
              <a:spcAft>
                <a:spcPts val="0"/>
              </a:spcAft>
            </a:pPr>
            <a:r>
              <a:rPr sz="1150" b="1">
                <a:solidFill>
                  <a:srgbClr val="D7D6CF"/>
                </a:solidFill>
                <a:latin typeface="Avenir Next"/>
              </a:rPr>
              <a:t>UC Santa Cruz Summer AI Academy</a:t>
            </a:r>
          </a:p>
        </p:txBody>
      </p:sp>
      <p:sp>
        <p:nvSpPr>
          <p:cNvPr id="15" name="TextBox 14"/>
          <p:cNvSpPr txBox="1"/>
          <p:nvPr/>
        </p:nvSpPr>
        <p:spPr>
          <a:xfrm>
            <a:off x="6858000" y="6236208"/>
            <a:ext cx="3886200" cy="219456"/>
          </a:xfrm>
          <a:prstGeom prst="rect">
            <a:avLst/>
          </a:prstGeom>
          <a:noFill/>
        </p:spPr>
        <p:txBody>
          <a:bodyPr wrap="square" anchor="t" lIns="0" rIns="0" tIns="0" bIns="0">
            <a:noAutofit/>
          </a:bodyPr>
          <a:lstStyle/>
          <a:p>
            <a:pPr algn="r">
              <a:lnSpc>
                <a:spcPct val="100000"/>
              </a:lnSpc>
              <a:spcAft>
                <a:spcPts val="0"/>
              </a:spcAft>
            </a:pPr>
            <a:r>
              <a:rPr sz="1150" b="1">
                <a:solidFill>
                  <a:srgbClr val="D7D6CF"/>
                </a:solidFill>
                <a:latin typeface="Avenir Next"/>
              </a:rPr>
              <a:t>[Replace with four presenter names]</a:t>
            </a:r>
          </a:p>
        </p:txBody>
      </p:sp>
      <p:sp>
        <p:nvSpPr>
          <p:cNvPr id="16" name="TextBox 15"/>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D7D6CF"/>
                </a:solidFill>
                <a:latin typeface="Avenir Next"/>
              </a:rPr>
              <a:t>Main presentation ends here · appendix follows</a:t>
            </a:r>
          </a:p>
        </p:txBody>
      </p:sp>
      <p:sp>
        <p:nvSpPr>
          <p:cNvPr id="17" name="TextBox 16"/>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D7D6CF"/>
                </a:solidFill>
                <a:latin typeface="Avenir Nex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0B0B0B"/>
                </a:solidFill>
                <a:latin typeface="Avenir Next"/>
              </a:rPr>
              <a:t>Appendix · Technology map</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12</a:t>
            </a:r>
          </a:p>
        </p:txBody>
      </p:sp>
      <p:sp>
        <p:nvSpPr>
          <p:cNvPr id="5" name="TextBox 4"/>
          <p:cNvSpPr txBox="1"/>
          <p:nvPr/>
        </p:nvSpPr>
        <p:spPr>
          <a:xfrm>
            <a:off x="749808" y="137160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RealSense D435I</a:t>
            </a:r>
          </a:p>
        </p:txBody>
      </p:sp>
      <p:sp>
        <p:nvSpPr>
          <p:cNvPr id="6" name="TextBox 5"/>
          <p:cNvSpPr txBox="1"/>
          <p:nvPr/>
        </p:nvSpPr>
        <p:spPr>
          <a:xfrm>
            <a:off x="2807208" y="137160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RGB + per-pixel depth</a:t>
            </a:r>
          </a:p>
        </p:txBody>
      </p:sp>
      <p:cxnSp>
        <p:nvCxnSpPr>
          <p:cNvPr id="7" name="Connector 6"/>
          <p:cNvCxnSpPr/>
          <p:nvPr/>
        </p:nvCxnSpPr>
        <p:spPr>
          <a:xfrm>
            <a:off x="749808" y="1892807"/>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81928" y="137160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YOLO</a:t>
            </a:r>
          </a:p>
        </p:txBody>
      </p:sp>
      <p:sp>
        <p:nvSpPr>
          <p:cNvPr id="9" name="TextBox 8"/>
          <p:cNvSpPr txBox="1"/>
          <p:nvPr/>
        </p:nvSpPr>
        <p:spPr>
          <a:xfrm>
            <a:off x="8339328" y="137160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real-time bunny detection</a:t>
            </a:r>
          </a:p>
        </p:txBody>
      </p:sp>
      <p:cxnSp>
        <p:nvCxnSpPr>
          <p:cNvPr id="10" name="Connector 9"/>
          <p:cNvCxnSpPr/>
          <p:nvPr/>
        </p:nvCxnSpPr>
        <p:spPr>
          <a:xfrm>
            <a:off x="6281928" y="1892807"/>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214884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RGB–depth fusion</a:t>
            </a:r>
          </a:p>
        </p:txBody>
      </p:sp>
      <p:sp>
        <p:nvSpPr>
          <p:cNvPr id="12" name="TextBox 11"/>
          <p:cNvSpPr txBox="1"/>
          <p:nvPr/>
        </p:nvSpPr>
        <p:spPr>
          <a:xfrm>
            <a:off x="2807208" y="214884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pixel coordinates → torso-frame 3D</a:t>
            </a:r>
          </a:p>
        </p:txBody>
      </p:sp>
      <p:cxnSp>
        <p:nvCxnSpPr>
          <p:cNvPr id="13" name="Connector 12"/>
          <p:cNvCxnSpPr/>
          <p:nvPr/>
        </p:nvCxnSpPr>
        <p:spPr>
          <a:xfrm>
            <a:off x="749808" y="267004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81928" y="214884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Alpha–beta filter</a:t>
            </a:r>
          </a:p>
        </p:txBody>
      </p:sp>
      <p:sp>
        <p:nvSpPr>
          <p:cNvPr id="15" name="TextBox 14"/>
          <p:cNvSpPr txBox="1"/>
          <p:nvPr/>
        </p:nvSpPr>
        <p:spPr>
          <a:xfrm>
            <a:off x="8339328" y="214884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smoothed position + velocity</a:t>
            </a:r>
          </a:p>
        </p:txBody>
      </p:sp>
      <p:cxnSp>
        <p:nvCxnSpPr>
          <p:cNvPr id="16" name="Connector 15"/>
          <p:cNvCxnSpPr/>
          <p:nvPr/>
        </p:nvCxnSpPr>
        <p:spPr>
          <a:xfrm>
            <a:off x="6281928" y="267004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9808" y="292608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Plane crossing</a:t>
            </a:r>
          </a:p>
        </p:txBody>
      </p:sp>
      <p:sp>
        <p:nvSpPr>
          <p:cNvPr id="18" name="TextBox 17"/>
          <p:cNvSpPr txBox="1"/>
          <p:nvPr/>
        </p:nvSpPr>
        <p:spPr>
          <a:xfrm>
            <a:off x="2807208" y="292608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future interception point + time</a:t>
            </a:r>
          </a:p>
        </p:txBody>
      </p:sp>
      <p:cxnSp>
        <p:nvCxnSpPr>
          <p:cNvPr id="19" name="Connector 18"/>
          <p:cNvCxnSpPr/>
          <p:nvPr/>
        </p:nvCxnSpPr>
        <p:spPr>
          <a:xfrm>
            <a:off x="749808" y="344728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81928" y="292608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Pinocchio</a:t>
            </a:r>
          </a:p>
        </p:txBody>
      </p:sp>
      <p:sp>
        <p:nvSpPr>
          <p:cNvPr id="21" name="TextBox 20"/>
          <p:cNvSpPr txBox="1"/>
          <p:nvPr/>
        </p:nvSpPr>
        <p:spPr>
          <a:xfrm>
            <a:off x="8339328" y="292608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G1 kinematics + collision geometry</a:t>
            </a:r>
          </a:p>
        </p:txBody>
      </p:sp>
      <p:cxnSp>
        <p:nvCxnSpPr>
          <p:cNvPr id="22" name="Connector 21"/>
          <p:cNvCxnSpPr/>
          <p:nvPr/>
        </p:nvCxnSpPr>
        <p:spPr>
          <a:xfrm>
            <a:off x="6281928" y="344728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9808" y="370332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Ruckig</a:t>
            </a:r>
          </a:p>
        </p:txBody>
      </p:sp>
      <p:sp>
        <p:nvSpPr>
          <p:cNvPr id="24" name="TextBox 23"/>
          <p:cNvSpPr txBox="1"/>
          <p:nvPr/>
        </p:nvSpPr>
        <p:spPr>
          <a:xfrm>
            <a:off x="2807208" y="370332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velocity · acceleration · jerk limits</a:t>
            </a:r>
          </a:p>
        </p:txBody>
      </p:sp>
      <p:cxnSp>
        <p:nvCxnSpPr>
          <p:cNvPr id="25" name="Connector 24"/>
          <p:cNvCxnSpPr/>
          <p:nvPr/>
        </p:nvCxnSpPr>
        <p:spPr>
          <a:xfrm>
            <a:off x="749808" y="422452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281928" y="370332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ROS 2 / DDS</a:t>
            </a:r>
          </a:p>
        </p:txBody>
      </p:sp>
      <p:sp>
        <p:nvSpPr>
          <p:cNvPr id="27" name="TextBox 26"/>
          <p:cNvSpPr txBox="1"/>
          <p:nvPr/>
        </p:nvSpPr>
        <p:spPr>
          <a:xfrm>
            <a:off x="8339328" y="370332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state, depth, commands, services</a:t>
            </a:r>
          </a:p>
        </p:txBody>
      </p:sp>
      <p:cxnSp>
        <p:nvCxnSpPr>
          <p:cNvPr id="28" name="Connector 27"/>
          <p:cNvCxnSpPr/>
          <p:nvPr/>
        </p:nvCxnSpPr>
        <p:spPr>
          <a:xfrm>
            <a:off x="6281928" y="422452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8" y="448056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Isaac Sim</a:t>
            </a:r>
          </a:p>
        </p:txBody>
      </p:sp>
      <p:sp>
        <p:nvSpPr>
          <p:cNvPr id="30" name="TextBox 29"/>
          <p:cNvSpPr txBox="1"/>
          <p:nvPr/>
        </p:nvSpPr>
        <p:spPr>
          <a:xfrm>
            <a:off x="2807208" y="448056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synthetic demonstrations + contact scenes</a:t>
            </a:r>
          </a:p>
        </p:txBody>
      </p:sp>
      <p:cxnSp>
        <p:nvCxnSpPr>
          <p:cNvPr id="31" name="Connector 30"/>
          <p:cNvCxnSpPr/>
          <p:nvPr/>
        </p:nvCxnSpPr>
        <p:spPr>
          <a:xfrm>
            <a:off x="749808" y="500176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81928" y="448056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MuJoCo / MJX</a:t>
            </a:r>
          </a:p>
        </p:txBody>
      </p:sp>
      <p:sp>
        <p:nvSpPr>
          <p:cNvPr id="33" name="TextBox 32"/>
          <p:cNvSpPr txBox="1"/>
          <p:nvPr/>
        </p:nvSpPr>
        <p:spPr>
          <a:xfrm>
            <a:off x="8339328" y="448056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lightweight controller search</a:t>
            </a:r>
          </a:p>
        </p:txBody>
      </p:sp>
      <p:cxnSp>
        <p:nvCxnSpPr>
          <p:cNvPr id="34" name="Connector 33"/>
          <p:cNvCxnSpPr/>
          <p:nvPr/>
        </p:nvCxnSpPr>
        <p:spPr>
          <a:xfrm>
            <a:off x="6281928" y="500176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49808" y="525780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RLDS / TFDS</a:t>
            </a:r>
          </a:p>
        </p:txBody>
      </p:sp>
      <p:sp>
        <p:nvSpPr>
          <p:cNvPr id="36" name="TextBox 35"/>
          <p:cNvSpPr txBox="1"/>
          <p:nvPr/>
        </p:nvSpPr>
        <p:spPr>
          <a:xfrm>
            <a:off x="2807208" y="525780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sequential robot-data contract</a:t>
            </a:r>
          </a:p>
        </p:txBody>
      </p:sp>
      <p:cxnSp>
        <p:nvCxnSpPr>
          <p:cNvPr id="37" name="Connector 36"/>
          <p:cNvCxnSpPr/>
          <p:nvPr/>
        </p:nvCxnSpPr>
        <p:spPr>
          <a:xfrm>
            <a:off x="749808" y="577900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5257800"/>
            <a:ext cx="196596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UniFoLM-VLA</a:t>
            </a:r>
          </a:p>
        </p:txBody>
      </p:sp>
      <p:sp>
        <p:nvSpPr>
          <p:cNvPr id="39" name="TextBox 38"/>
          <p:cNvSpPr txBox="1"/>
          <p:nvPr/>
        </p:nvSpPr>
        <p:spPr>
          <a:xfrm>
            <a:off x="8339328" y="5257800"/>
            <a:ext cx="3154680" cy="384048"/>
          </a:xfrm>
          <a:prstGeom prst="rect">
            <a:avLst/>
          </a:prstGeom>
          <a:noFill/>
        </p:spPr>
        <p:txBody>
          <a:bodyPr wrap="square" anchor="t" lIns="0" rIns="0" tIns="0" bIns="0">
            <a:noAutofit/>
          </a:bodyPr>
          <a:lstStyle/>
          <a:p>
            <a:pPr algn="l">
              <a:lnSpc>
                <a:spcPct val="108000"/>
              </a:lnSpc>
              <a:spcAft>
                <a:spcPts val="0"/>
              </a:spcAft>
            </a:pPr>
            <a:r>
              <a:rPr sz="1600" b="0">
                <a:solidFill>
                  <a:srgbClr val="64645F"/>
                </a:solidFill>
                <a:latin typeface="Avenir Next"/>
              </a:rPr>
              <a:t>image + instruction + state → proposal</a:t>
            </a:r>
          </a:p>
        </p:txBody>
      </p:sp>
      <p:cxnSp>
        <p:nvCxnSpPr>
          <p:cNvPr id="40" name="Connector 39"/>
          <p:cNvCxnSpPr/>
          <p:nvPr/>
        </p:nvCxnSpPr>
        <p:spPr>
          <a:xfrm>
            <a:off x="6281928" y="5779008"/>
            <a:ext cx="5175504"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Reactive Q&amp;A appendix</a:t>
            </a:r>
          </a:p>
        </p:txBody>
      </p:sp>
      <p:sp>
        <p:nvSpPr>
          <p:cNvPr id="42" name="TextBox 41"/>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0B0B0B"/>
                </a:solidFill>
                <a:latin typeface="Avenir Next"/>
              </a:rPr>
              <a:t>Appendix · The 36 VLA attempts</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13</a:t>
            </a:r>
          </a:p>
        </p:txBody>
      </p:sp>
      <p:sp>
        <p:nvSpPr>
          <p:cNvPr id="5" name="TextBox 4"/>
          <p:cNvSpPr txBox="1"/>
          <p:nvPr/>
        </p:nvSpPr>
        <p:spPr>
          <a:xfrm>
            <a:off x="749808" y="1389888"/>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1</a:t>
            </a:r>
          </a:p>
        </p:txBody>
      </p:sp>
      <p:sp>
        <p:nvSpPr>
          <p:cNvPr id="6" name="TextBox 5"/>
          <p:cNvSpPr txBox="1"/>
          <p:nvPr/>
        </p:nvSpPr>
        <p:spPr>
          <a:xfrm>
            <a:off x="1408176" y="1408176"/>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Initial full training</a:t>
            </a:r>
          </a:p>
        </p:txBody>
      </p:sp>
      <p:sp>
        <p:nvSpPr>
          <p:cNvPr id="7" name="TextBox 6"/>
          <p:cNvSpPr txBox="1"/>
          <p:nvPr/>
        </p:nvSpPr>
        <p:spPr>
          <a:xfrm>
            <a:off x="3694176" y="1408176"/>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complete adaptation path</a:t>
            </a:r>
          </a:p>
        </p:txBody>
      </p:sp>
      <p:cxnSp>
        <p:nvCxnSpPr>
          <p:cNvPr id="8" name="Connector 7"/>
          <p:cNvCxnSpPr/>
          <p:nvPr/>
        </p:nvCxnSpPr>
        <p:spPr>
          <a:xfrm>
            <a:off x="749808" y="2029967"/>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9808" y="2286000"/>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5</a:t>
            </a:r>
          </a:p>
        </p:txBody>
      </p:sp>
      <p:sp>
        <p:nvSpPr>
          <p:cNvPr id="10" name="TextBox 9"/>
          <p:cNvSpPr txBox="1"/>
          <p:nvPr/>
        </p:nvSpPr>
        <p:spPr>
          <a:xfrm>
            <a:off x="1408176" y="2304288"/>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v28 staged schedule</a:t>
            </a:r>
          </a:p>
        </p:txBody>
      </p:sp>
      <p:sp>
        <p:nvSpPr>
          <p:cNvPr id="11" name="TextBox 10"/>
          <p:cNvSpPr txBox="1"/>
          <p:nvPr/>
        </p:nvSpPr>
        <p:spPr>
          <a:xfrm>
            <a:off x="3694176" y="2304288"/>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simulation → mixed → real</a:t>
            </a:r>
          </a:p>
        </p:txBody>
      </p:sp>
      <p:cxnSp>
        <p:nvCxnSpPr>
          <p:cNvPr id="12" name="Connector 11"/>
          <p:cNvCxnSpPr/>
          <p:nvPr/>
        </p:nvCxnSpPr>
        <p:spPr>
          <a:xfrm>
            <a:off x="749808" y="2926080"/>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3182112"/>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4</a:t>
            </a:r>
          </a:p>
        </p:txBody>
      </p:sp>
      <p:sp>
        <p:nvSpPr>
          <p:cNvPr id="14" name="TextBox 13"/>
          <p:cNvSpPr txBox="1"/>
          <p:nvPr/>
        </p:nvSpPr>
        <p:spPr>
          <a:xfrm>
            <a:off x="1408176" y="3200400"/>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Dynamic-action pilots</a:t>
            </a:r>
          </a:p>
        </p:txBody>
      </p:sp>
      <p:sp>
        <p:nvSpPr>
          <p:cNvPr id="15" name="TextBox 14"/>
          <p:cNvSpPr txBox="1"/>
          <p:nvPr/>
        </p:nvSpPr>
        <p:spPr>
          <a:xfrm>
            <a:off x="3694176" y="3200400"/>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23 actions vs right arm vs history</a:t>
            </a:r>
          </a:p>
        </p:txBody>
      </p:sp>
      <p:cxnSp>
        <p:nvCxnSpPr>
          <p:cNvPr id="16" name="Connector 15"/>
          <p:cNvCxnSpPr/>
          <p:nvPr/>
        </p:nvCxnSpPr>
        <p:spPr>
          <a:xfrm>
            <a:off x="749808" y="3822191"/>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9808" y="4078224"/>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6</a:t>
            </a:r>
          </a:p>
        </p:txBody>
      </p:sp>
      <p:sp>
        <p:nvSpPr>
          <p:cNvPr id="18" name="TextBox 17"/>
          <p:cNvSpPr txBox="1"/>
          <p:nvPr/>
        </p:nvSpPr>
        <p:spPr>
          <a:xfrm>
            <a:off x="1408176" y="4096511"/>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Pose23 representation</a:t>
            </a:r>
          </a:p>
        </p:txBody>
      </p:sp>
      <p:sp>
        <p:nvSpPr>
          <p:cNvPr id="19" name="TextBox 18"/>
          <p:cNvSpPr txBox="1"/>
          <p:nvPr/>
        </p:nvSpPr>
        <p:spPr>
          <a:xfrm>
            <a:off x="3694176" y="4096511"/>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absolute vs anchored relative</a:t>
            </a:r>
          </a:p>
        </p:txBody>
      </p:sp>
      <p:cxnSp>
        <p:nvCxnSpPr>
          <p:cNvPr id="20" name="Connector 19"/>
          <p:cNvCxnSpPr/>
          <p:nvPr/>
        </p:nvCxnSpPr>
        <p:spPr>
          <a:xfrm>
            <a:off x="749808" y="4718304"/>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4974336"/>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2</a:t>
            </a:r>
          </a:p>
        </p:txBody>
      </p:sp>
      <p:sp>
        <p:nvSpPr>
          <p:cNvPr id="22" name="TextBox 21"/>
          <p:cNvSpPr txBox="1"/>
          <p:nvPr/>
        </p:nvSpPr>
        <p:spPr>
          <a:xfrm>
            <a:off x="1408176" y="4992623"/>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Longer relative training</a:t>
            </a:r>
          </a:p>
        </p:txBody>
      </p:sp>
      <p:sp>
        <p:nvSpPr>
          <p:cNvPr id="23" name="TextBox 22"/>
          <p:cNvSpPr txBox="1"/>
          <p:nvPr/>
        </p:nvSpPr>
        <p:spPr>
          <a:xfrm>
            <a:off x="3694176" y="4992623"/>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more optimization did not help</a:t>
            </a:r>
          </a:p>
        </p:txBody>
      </p:sp>
      <p:cxnSp>
        <p:nvCxnSpPr>
          <p:cNvPr id="24" name="Connector 23"/>
          <p:cNvCxnSpPr/>
          <p:nvPr/>
        </p:nvCxnSpPr>
        <p:spPr>
          <a:xfrm>
            <a:off x="749808" y="5614416"/>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36208" y="1389888"/>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2</a:t>
            </a:r>
          </a:p>
        </p:txBody>
      </p:sp>
      <p:sp>
        <p:nvSpPr>
          <p:cNvPr id="26" name="TextBox 25"/>
          <p:cNvSpPr txBox="1"/>
          <p:nvPr/>
        </p:nvSpPr>
        <p:spPr>
          <a:xfrm>
            <a:off x="6894576" y="1408176"/>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Timing-aligned targets</a:t>
            </a:r>
          </a:p>
        </p:txBody>
      </p:sp>
      <p:sp>
        <p:nvSpPr>
          <p:cNvPr id="27" name="TextBox 26"/>
          <p:cNvSpPr txBox="1"/>
          <p:nvPr/>
        </p:nvSpPr>
        <p:spPr>
          <a:xfrm>
            <a:off x="9180576" y="1408176"/>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one- and three-frame future state</a:t>
            </a:r>
          </a:p>
        </p:txBody>
      </p:sp>
      <p:cxnSp>
        <p:nvCxnSpPr>
          <p:cNvPr id="28" name="Connector 27"/>
          <p:cNvCxnSpPr/>
          <p:nvPr/>
        </p:nvCxnSpPr>
        <p:spPr>
          <a:xfrm>
            <a:off x="6236208" y="2029967"/>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236208" y="2286000"/>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4</a:t>
            </a:r>
          </a:p>
        </p:txBody>
      </p:sp>
      <p:sp>
        <p:nvSpPr>
          <p:cNvPr id="30" name="TextBox 29"/>
          <p:cNvSpPr txBox="1"/>
          <p:nvPr/>
        </p:nvSpPr>
        <p:spPr>
          <a:xfrm>
            <a:off x="6894576" y="2304288"/>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Loss-weight controls</a:t>
            </a:r>
          </a:p>
        </p:txBody>
      </p:sp>
      <p:sp>
        <p:nvSpPr>
          <p:cNvPr id="31" name="TextBox 30"/>
          <p:cNvSpPr txBox="1"/>
          <p:nvPr/>
        </p:nvSpPr>
        <p:spPr>
          <a:xfrm>
            <a:off x="9180576" y="2304288"/>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translation, rotation, absolute future</a:t>
            </a:r>
          </a:p>
        </p:txBody>
      </p:sp>
      <p:cxnSp>
        <p:nvCxnSpPr>
          <p:cNvPr id="32" name="Connector 31"/>
          <p:cNvCxnSpPr/>
          <p:nvPr/>
        </p:nvCxnSpPr>
        <p:spPr>
          <a:xfrm>
            <a:off x="6236208" y="2926080"/>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236208" y="3182112"/>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2</a:t>
            </a:r>
          </a:p>
        </p:txBody>
      </p:sp>
      <p:sp>
        <p:nvSpPr>
          <p:cNvPr id="34" name="TextBox 33"/>
          <p:cNvSpPr txBox="1"/>
          <p:nvPr/>
        </p:nvSpPr>
        <p:spPr>
          <a:xfrm>
            <a:off x="6894576" y="3200400"/>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v29 motion-focused data</a:t>
            </a:r>
          </a:p>
        </p:txBody>
      </p:sp>
      <p:sp>
        <p:nvSpPr>
          <p:cNvPr id="35" name="TextBox 34"/>
          <p:cNvSpPr txBox="1"/>
          <p:nvPr/>
        </p:nvSpPr>
        <p:spPr>
          <a:xfrm>
            <a:off x="9180576" y="3200400"/>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67 real episodes + moving windows</a:t>
            </a:r>
          </a:p>
        </p:txBody>
      </p:sp>
      <p:cxnSp>
        <p:nvCxnSpPr>
          <p:cNvPr id="36" name="Connector 35"/>
          <p:cNvCxnSpPr/>
          <p:nvPr/>
        </p:nvCxnSpPr>
        <p:spPr>
          <a:xfrm>
            <a:off x="6236208" y="3822191"/>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36208" y="4078224"/>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7</a:t>
            </a:r>
          </a:p>
        </p:txBody>
      </p:sp>
      <p:sp>
        <p:nvSpPr>
          <p:cNvPr id="38" name="TextBox 37"/>
          <p:cNvSpPr txBox="1"/>
          <p:nvPr/>
        </p:nvSpPr>
        <p:spPr>
          <a:xfrm>
            <a:off x="6894576" y="4096511"/>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v29 automated campaign</a:t>
            </a:r>
          </a:p>
        </p:txBody>
      </p:sp>
      <p:sp>
        <p:nvSpPr>
          <p:cNvPr id="39" name="TextBox 38"/>
          <p:cNvSpPr txBox="1"/>
          <p:nvPr/>
        </p:nvSpPr>
        <p:spPr>
          <a:xfrm>
            <a:off x="9180576" y="4096511"/>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restarts, seeds, warm starts, gates</a:t>
            </a:r>
          </a:p>
        </p:txBody>
      </p:sp>
      <p:cxnSp>
        <p:nvCxnSpPr>
          <p:cNvPr id="40" name="Connector 39"/>
          <p:cNvCxnSpPr/>
          <p:nvPr/>
        </p:nvCxnSpPr>
        <p:spPr>
          <a:xfrm>
            <a:off x="6236208" y="4718304"/>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36208" y="4974336"/>
            <a:ext cx="530352" cy="384048"/>
          </a:xfrm>
          <a:prstGeom prst="rect">
            <a:avLst/>
          </a:prstGeom>
          <a:noFill/>
        </p:spPr>
        <p:txBody>
          <a:bodyPr wrap="square" anchor="t" lIns="0" rIns="0" tIns="0" bIns="0">
            <a:noAutofit/>
          </a:bodyPr>
          <a:lstStyle/>
          <a:p>
            <a:pPr algn="l">
              <a:lnSpc>
                <a:spcPct val="94000"/>
              </a:lnSpc>
              <a:spcAft>
                <a:spcPts val="0"/>
              </a:spcAft>
            </a:pPr>
            <a:r>
              <a:rPr sz="2900" b="1">
                <a:solidFill>
                  <a:srgbClr val="0B0B0B"/>
                </a:solidFill>
                <a:latin typeface="DIN Condensed"/>
              </a:rPr>
              <a:t>3</a:t>
            </a:r>
          </a:p>
        </p:txBody>
      </p:sp>
      <p:sp>
        <p:nvSpPr>
          <p:cNvPr id="42" name="TextBox 41"/>
          <p:cNvSpPr txBox="1"/>
          <p:nvPr/>
        </p:nvSpPr>
        <p:spPr>
          <a:xfrm>
            <a:off x="6894576" y="4992623"/>
            <a:ext cx="2331720" cy="256032"/>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v30 active horizon</a:t>
            </a:r>
          </a:p>
        </p:txBody>
      </p:sp>
      <p:sp>
        <p:nvSpPr>
          <p:cNvPr id="43" name="TextBox 42"/>
          <p:cNvSpPr txBox="1"/>
          <p:nvPr/>
        </p:nvSpPr>
        <p:spPr>
          <a:xfrm>
            <a:off x="9180576" y="4992623"/>
            <a:ext cx="2212848" cy="43891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infrastructure/evaluation failure</a:t>
            </a:r>
          </a:p>
        </p:txBody>
      </p:sp>
      <p:cxnSp>
        <p:nvCxnSpPr>
          <p:cNvPr id="44" name="Connector 43"/>
          <p:cNvCxnSpPr/>
          <p:nvPr/>
        </p:nvCxnSpPr>
        <p:spPr>
          <a:xfrm>
            <a:off x="6236208" y="5614416"/>
            <a:ext cx="5166360"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32 attempts produced action checkpoints; 0 were authorized for robot execution</a:t>
            </a:r>
          </a:p>
        </p:txBody>
      </p:sp>
      <p:sp>
        <p:nvSpPr>
          <p:cNvPr id="46" name="TextBox 45"/>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600" b="1">
                <a:solidFill>
                  <a:srgbClr val="0B0B0B"/>
                </a:solidFill>
                <a:latin typeface="Avenir Next"/>
              </a:rPr>
              <a:t>Appendix · Canonical IK benchmark</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14</a:t>
            </a:r>
          </a:p>
        </p:txBody>
      </p:sp>
      <p:sp>
        <p:nvSpPr>
          <p:cNvPr id="5" name="TextBox 4"/>
          <p:cNvSpPr txBox="1"/>
          <p:nvPr/>
        </p:nvSpPr>
        <p:spPr>
          <a:xfrm>
            <a:off x="749808" y="1389888"/>
            <a:ext cx="2834640" cy="274320"/>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Backend</a:t>
            </a:r>
          </a:p>
        </p:txBody>
      </p:sp>
      <p:sp>
        <p:nvSpPr>
          <p:cNvPr id="6" name="TextBox 5"/>
          <p:cNvSpPr txBox="1"/>
          <p:nvPr/>
        </p:nvSpPr>
        <p:spPr>
          <a:xfrm>
            <a:off x="3767328" y="1389888"/>
            <a:ext cx="2048256" cy="274320"/>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Success / acceptance</a:t>
            </a:r>
          </a:p>
        </p:txBody>
      </p:sp>
      <p:sp>
        <p:nvSpPr>
          <p:cNvPr id="7" name="TextBox 6"/>
          <p:cNvSpPr txBox="1"/>
          <p:nvPr/>
        </p:nvSpPr>
        <p:spPr>
          <a:xfrm>
            <a:off x="5989320" y="1389888"/>
            <a:ext cx="1920240" cy="274320"/>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Mean position error</a:t>
            </a:r>
          </a:p>
        </p:txBody>
      </p:sp>
      <p:sp>
        <p:nvSpPr>
          <p:cNvPr id="8" name="TextBox 7"/>
          <p:cNvSpPr txBox="1"/>
          <p:nvPr/>
        </p:nvSpPr>
        <p:spPr>
          <a:xfrm>
            <a:off x="8138160" y="1389888"/>
            <a:ext cx="1783080" cy="274320"/>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Median latency</a:t>
            </a:r>
          </a:p>
        </p:txBody>
      </p:sp>
      <p:sp>
        <p:nvSpPr>
          <p:cNvPr id="9" name="TextBox 8"/>
          <p:cNvSpPr txBox="1"/>
          <p:nvPr/>
        </p:nvSpPr>
        <p:spPr>
          <a:xfrm>
            <a:off x="10287000" y="1389888"/>
            <a:ext cx="822960" cy="274320"/>
          </a:xfrm>
          <a:prstGeom prst="rect">
            <a:avLst/>
          </a:prstGeom>
          <a:noFill/>
        </p:spPr>
        <p:txBody>
          <a:bodyPr wrap="square" anchor="t" lIns="0" rIns="0" tIns="0" bIns="0">
            <a:noAutofit/>
          </a:bodyPr>
          <a:lstStyle/>
          <a:p>
            <a:pPr algn="l">
              <a:lnSpc>
                <a:spcPct val="100000"/>
              </a:lnSpc>
              <a:spcAft>
                <a:spcPts val="0"/>
              </a:spcAft>
            </a:pPr>
            <a:r>
              <a:rPr sz="1250" b="1">
                <a:solidFill>
                  <a:srgbClr val="64645F"/>
                </a:solidFill>
                <a:latin typeface="DIN Condensed"/>
              </a:rPr>
              <a:t>Unsafe</a:t>
            </a:r>
          </a:p>
        </p:txBody>
      </p:sp>
      <p:sp>
        <p:nvSpPr>
          <p:cNvPr id="10" name="Rectangle 9"/>
          <p:cNvSpPr/>
          <p:nvPr/>
        </p:nvSpPr>
        <p:spPr>
          <a:xfrm>
            <a:off x="694944" y="1764791"/>
            <a:ext cx="10634472" cy="658368"/>
          </a:xfrm>
          <a:prstGeom prst="rect">
            <a:avLst/>
          </a:prstGeom>
          <a:solidFill>
            <a:srgbClr val="FFFFFF"/>
          </a:solidFill>
          <a:ln w="1016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892807"/>
            <a:ext cx="283464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Bounded SciPy global IK</a:t>
            </a:r>
          </a:p>
        </p:txBody>
      </p:sp>
      <p:sp>
        <p:nvSpPr>
          <p:cNvPr id="12" name="TextBox 11"/>
          <p:cNvSpPr txBox="1"/>
          <p:nvPr/>
        </p:nvSpPr>
        <p:spPr>
          <a:xfrm>
            <a:off x="3767328" y="1892807"/>
            <a:ext cx="2048256"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64 / 64</a:t>
            </a:r>
          </a:p>
        </p:txBody>
      </p:sp>
      <p:sp>
        <p:nvSpPr>
          <p:cNvPr id="13" name="TextBox 12"/>
          <p:cNvSpPr txBox="1"/>
          <p:nvPr/>
        </p:nvSpPr>
        <p:spPr>
          <a:xfrm>
            <a:off x="5989320" y="1892807"/>
            <a:ext cx="192024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1.13 mm</a:t>
            </a:r>
          </a:p>
        </p:txBody>
      </p:sp>
      <p:sp>
        <p:nvSpPr>
          <p:cNvPr id="14" name="TextBox 13"/>
          <p:cNvSpPr txBox="1"/>
          <p:nvPr/>
        </p:nvSpPr>
        <p:spPr>
          <a:xfrm>
            <a:off x="8138160" y="1892807"/>
            <a:ext cx="178308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230.3 ms</a:t>
            </a:r>
          </a:p>
        </p:txBody>
      </p:sp>
      <p:sp>
        <p:nvSpPr>
          <p:cNvPr id="15" name="TextBox 14"/>
          <p:cNvSpPr txBox="1"/>
          <p:nvPr/>
        </p:nvSpPr>
        <p:spPr>
          <a:xfrm>
            <a:off x="10287000" y="1892807"/>
            <a:ext cx="82296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0</a:t>
            </a:r>
          </a:p>
        </p:txBody>
      </p:sp>
      <p:sp>
        <p:nvSpPr>
          <p:cNvPr id="16" name="Rectangle 15"/>
          <p:cNvSpPr/>
          <p:nvPr/>
        </p:nvSpPr>
        <p:spPr>
          <a:xfrm>
            <a:off x="694944" y="2606039"/>
            <a:ext cx="10634472" cy="658368"/>
          </a:xfrm>
          <a:prstGeom prst="rect">
            <a:avLst/>
          </a:prstGeom>
          <a:solidFill>
            <a:srgbClr val="FFFFFF"/>
          </a:solidFill>
          <a:ln w="1016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2734056"/>
            <a:ext cx="283464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MuJoCo DLS reference</a:t>
            </a:r>
          </a:p>
        </p:txBody>
      </p:sp>
      <p:sp>
        <p:nvSpPr>
          <p:cNvPr id="18" name="TextBox 17"/>
          <p:cNvSpPr txBox="1"/>
          <p:nvPr/>
        </p:nvSpPr>
        <p:spPr>
          <a:xfrm>
            <a:off x="3767328" y="2734056"/>
            <a:ext cx="2048256"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0 / 64</a:t>
            </a:r>
          </a:p>
        </p:txBody>
      </p:sp>
      <p:sp>
        <p:nvSpPr>
          <p:cNvPr id="19" name="TextBox 18"/>
          <p:cNvSpPr txBox="1"/>
          <p:nvPr/>
        </p:nvSpPr>
        <p:spPr>
          <a:xfrm>
            <a:off x="5989320" y="2734056"/>
            <a:ext cx="192024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9.53 mm</a:t>
            </a:r>
          </a:p>
        </p:txBody>
      </p:sp>
      <p:sp>
        <p:nvSpPr>
          <p:cNvPr id="20" name="TextBox 19"/>
          <p:cNvSpPr txBox="1"/>
          <p:nvPr/>
        </p:nvSpPr>
        <p:spPr>
          <a:xfrm>
            <a:off x="8138160" y="2734056"/>
            <a:ext cx="178308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15.2 ms</a:t>
            </a:r>
          </a:p>
        </p:txBody>
      </p:sp>
      <p:sp>
        <p:nvSpPr>
          <p:cNvPr id="21" name="TextBox 20"/>
          <p:cNvSpPr txBox="1"/>
          <p:nvPr/>
        </p:nvSpPr>
        <p:spPr>
          <a:xfrm>
            <a:off x="10287000" y="2734056"/>
            <a:ext cx="82296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0*</a:t>
            </a:r>
          </a:p>
        </p:txBody>
      </p:sp>
      <p:sp>
        <p:nvSpPr>
          <p:cNvPr id="22" name="Rectangle 21"/>
          <p:cNvSpPr/>
          <p:nvPr/>
        </p:nvSpPr>
        <p:spPr>
          <a:xfrm>
            <a:off x="694944" y="3447288"/>
            <a:ext cx="10634472" cy="658368"/>
          </a:xfrm>
          <a:prstGeom prst="rect">
            <a:avLst/>
          </a:prstGeom>
          <a:solidFill>
            <a:srgbClr val="FFFFFF"/>
          </a:solidFill>
          <a:ln w="1016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575304"/>
            <a:ext cx="283464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Finite-difference local DLS</a:t>
            </a:r>
          </a:p>
        </p:txBody>
      </p:sp>
      <p:sp>
        <p:nvSpPr>
          <p:cNvPr id="24" name="TextBox 23"/>
          <p:cNvSpPr txBox="1"/>
          <p:nvPr/>
        </p:nvSpPr>
        <p:spPr>
          <a:xfrm>
            <a:off x="3767328" y="3575304"/>
            <a:ext cx="2048256"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64 / 64 accepted</a:t>
            </a:r>
          </a:p>
        </p:txBody>
      </p:sp>
      <p:sp>
        <p:nvSpPr>
          <p:cNvPr id="25" name="TextBox 24"/>
          <p:cNvSpPr txBox="1"/>
          <p:nvPr/>
        </p:nvSpPr>
        <p:spPr>
          <a:xfrm>
            <a:off x="5989320" y="3575304"/>
            <a:ext cx="192024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0.30 mm / step</a:t>
            </a:r>
          </a:p>
        </p:txBody>
      </p:sp>
      <p:sp>
        <p:nvSpPr>
          <p:cNvPr id="26" name="TextBox 25"/>
          <p:cNvSpPr txBox="1"/>
          <p:nvPr/>
        </p:nvSpPr>
        <p:spPr>
          <a:xfrm>
            <a:off x="8138160" y="3575304"/>
            <a:ext cx="1783080" cy="301752"/>
          </a:xfrm>
          <a:prstGeom prst="rect">
            <a:avLst/>
          </a:prstGeom>
          <a:noFill/>
        </p:spPr>
        <p:txBody>
          <a:bodyPr wrap="square" anchor="t" lIns="0" rIns="0" tIns="0" bIns="0">
            <a:noAutofit/>
          </a:bodyPr>
          <a:lstStyle/>
          <a:p>
            <a:pPr algn="l">
              <a:lnSpc>
                <a:spcPct val="105000"/>
              </a:lnSpc>
              <a:spcAft>
                <a:spcPts val="0"/>
              </a:spcAft>
            </a:pPr>
            <a:r>
              <a:rPr sz="1500" b="1">
                <a:solidFill>
                  <a:srgbClr val="0B0B0B"/>
                </a:solidFill>
                <a:latin typeface="Avenir Next"/>
              </a:rPr>
              <a:t>0.136 ms</a:t>
            </a:r>
          </a:p>
        </p:txBody>
      </p:sp>
      <p:sp>
        <p:nvSpPr>
          <p:cNvPr id="27" name="TextBox 26"/>
          <p:cNvSpPr txBox="1"/>
          <p:nvPr/>
        </p:nvSpPr>
        <p:spPr>
          <a:xfrm>
            <a:off x="10287000" y="3575304"/>
            <a:ext cx="822960" cy="301752"/>
          </a:xfrm>
          <a:prstGeom prst="rect">
            <a:avLst/>
          </a:prstGeom>
          <a:noFill/>
        </p:spPr>
        <p:txBody>
          <a:bodyPr wrap="square" anchor="t" lIns="0" rIns="0" tIns="0" bIns="0">
            <a:noAutofit/>
          </a:bodyPr>
          <a:lstStyle/>
          <a:p>
            <a:pPr algn="l">
              <a:lnSpc>
                <a:spcPct val="108000"/>
              </a:lnSpc>
              <a:spcAft>
                <a:spcPts val="0"/>
              </a:spcAft>
            </a:pPr>
            <a:r>
              <a:rPr sz="1500" b="0">
                <a:solidFill>
                  <a:srgbClr val="0B0B0B"/>
                </a:solidFill>
                <a:latin typeface="Avenir Next"/>
              </a:rPr>
              <a:t>0</a:t>
            </a:r>
          </a:p>
        </p:txBody>
      </p:sp>
      <p:sp>
        <p:nvSpPr>
          <p:cNvPr id="28" name="Rectangle 27"/>
          <p:cNvSpPr/>
          <p:nvPr/>
        </p:nvSpPr>
        <p:spPr>
          <a:xfrm>
            <a:off x="694944" y="4288536"/>
            <a:ext cx="10634472" cy="658368"/>
          </a:xfrm>
          <a:prstGeom prst="rect">
            <a:avLst/>
          </a:prstGeom>
          <a:solidFill>
            <a:srgbClr val="0B0B0B"/>
          </a:solidFill>
          <a:ln w="1016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416552"/>
            <a:ext cx="2834640" cy="301752"/>
          </a:xfrm>
          <a:prstGeom prst="rect">
            <a:avLst/>
          </a:prstGeom>
          <a:noFill/>
        </p:spPr>
        <p:txBody>
          <a:bodyPr wrap="square" anchor="t" lIns="0" rIns="0" tIns="0" bIns="0">
            <a:noAutofit/>
          </a:bodyPr>
          <a:lstStyle/>
          <a:p>
            <a:pPr algn="l">
              <a:lnSpc>
                <a:spcPct val="105000"/>
              </a:lnSpc>
              <a:spcAft>
                <a:spcPts val="0"/>
              </a:spcAft>
            </a:pPr>
            <a:r>
              <a:rPr sz="1500" b="1">
                <a:solidFill>
                  <a:srgbClr val="FFFFFF"/>
                </a:solidFill>
                <a:latin typeface="Avenir Next"/>
              </a:rPr>
              <a:t>Analytic Pinocchio local DLS</a:t>
            </a:r>
          </a:p>
        </p:txBody>
      </p:sp>
      <p:sp>
        <p:nvSpPr>
          <p:cNvPr id="30" name="TextBox 29"/>
          <p:cNvSpPr txBox="1"/>
          <p:nvPr/>
        </p:nvSpPr>
        <p:spPr>
          <a:xfrm>
            <a:off x="3767328" y="4416552"/>
            <a:ext cx="2048256" cy="301752"/>
          </a:xfrm>
          <a:prstGeom prst="rect">
            <a:avLst/>
          </a:prstGeom>
          <a:noFill/>
        </p:spPr>
        <p:txBody>
          <a:bodyPr wrap="square" anchor="t" lIns="0" rIns="0" tIns="0" bIns="0">
            <a:noAutofit/>
          </a:bodyPr>
          <a:lstStyle/>
          <a:p>
            <a:pPr algn="l">
              <a:lnSpc>
                <a:spcPct val="108000"/>
              </a:lnSpc>
              <a:spcAft>
                <a:spcPts val="0"/>
              </a:spcAft>
            </a:pPr>
            <a:r>
              <a:rPr sz="1500" b="0">
                <a:solidFill>
                  <a:srgbClr val="FFFFFF"/>
                </a:solidFill>
                <a:latin typeface="Avenir Next"/>
              </a:rPr>
              <a:t>64 / 64 accepted</a:t>
            </a:r>
          </a:p>
        </p:txBody>
      </p:sp>
      <p:sp>
        <p:nvSpPr>
          <p:cNvPr id="31" name="TextBox 30"/>
          <p:cNvSpPr txBox="1"/>
          <p:nvPr/>
        </p:nvSpPr>
        <p:spPr>
          <a:xfrm>
            <a:off x="5989320" y="4416552"/>
            <a:ext cx="1920240" cy="301752"/>
          </a:xfrm>
          <a:prstGeom prst="rect">
            <a:avLst/>
          </a:prstGeom>
          <a:noFill/>
        </p:spPr>
        <p:txBody>
          <a:bodyPr wrap="square" anchor="t" lIns="0" rIns="0" tIns="0" bIns="0">
            <a:noAutofit/>
          </a:bodyPr>
          <a:lstStyle/>
          <a:p>
            <a:pPr algn="l">
              <a:lnSpc>
                <a:spcPct val="108000"/>
              </a:lnSpc>
              <a:spcAft>
                <a:spcPts val="0"/>
              </a:spcAft>
            </a:pPr>
            <a:r>
              <a:rPr sz="1500" b="0">
                <a:solidFill>
                  <a:srgbClr val="FFFFFF"/>
                </a:solidFill>
                <a:latin typeface="Avenir Next"/>
              </a:rPr>
              <a:t>0.30 mm / step</a:t>
            </a:r>
          </a:p>
        </p:txBody>
      </p:sp>
      <p:sp>
        <p:nvSpPr>
          <p:cNvPr id="32" name="TextBox 31"/>
          <p:cNvSpPr txBox="1"/>
          <p:nvPr/>
        </p:nvSpPr>
        <p:spPr>
          <a:xfrm>
            <a:off x="8138160" y="4416552"/>
            <a:ext cx="1783080" cy="301752"/>
          </a:xfrm>
          <a:prstGeom prst="rect">
            <a:avLst/>
          </a:prstGeom>
          <a:noFill/>
        </p:spPr>
        <p:txBody>
          <a:bodyPr wrap="square" anchor="t" lIns="0" rIns="0" tIns="0" bIns="0">
            <a:noAutofit/>
          </a:bodyPr>
          <a:lstStyle/>
          <a:p>
            <a:pPr algn="l">
              <a:lnSpc>
                <a:spcPct val="105000"/>
              </a:lnSpc>
              <a:spcAft>
                <a:spcPts val="0"/>
              </a:spcAft>
            </a:pPr>
            <a:r>
              <a:rPr sz="1500" b="1">
                <a:solidFill>
                  <a:srgbClr val="FFFFFF"/>
                </a:solidFill>
                <a:latin typeface="Avenir Next"/>
              </a:rPr>
              <a:t>0.080 ms</a:t>
            </a:r>
          </a:p>
        </p:txBody>
      </p:sp>
      <p:sp>
        <p:nvSpPr>
          <p:cNvPr id="33" name="TextBox 32"/>
          <p:cNvSpPr txBox="1"/>
          <p:nvPr/>
        </p:nvSpPr>
        <p:spPr>
          <a:xfrm>
            <a:off x="10287000" y="4416552"/>
            <a:ext cx="822960" cy="301752"/>
          </a:xfrm>
          <a:prstGeom prst="rect">
            <a:avLst/>
          </a:prstGeom>
          <a:noFill/>
        </p:spPr>
        <p:txBody>
          <a:bodyPr wrap="square" anchor="t" lIns="0" rIns="0" tIns="0" bIns="0">
            <a:noAutofit/>
          </a:bodyPr>
          <a:lstStyle/>
          <a:p>
            <a:pPr algn="l">
              <a:lnSpc>
                <a:spcPct val="108000"/>
              </a:lnSpc>
              <a:spcAft>
                <a:spcPts val="0"/>
              </a:spcAft>
            </a:pPr>
            <a:r>
              <a:rPr sz="1500" b="0">
                <a:solidFill>
                  <a:srgbClr val="FFFFFF"/>
                </a:solidFill>
                <a:latin typeface="Avenir Next"/>
              </a:rPr>
              <a:t>0</a:t>
            </a:r>
          </a:p>
        </p:txBody>
      </p:sp>
      <p:sp>
        <p:nvSpPr>
          <p:cNvPr id="34" name="TextBox 33"/>
          <p:cNvSpPr txBox="1"/>
          <p:nvPr/>
        </p:nvSpPr>
        <p:spPr>
          <a:xfrm>
            <a:off x="749808" y="5321808"/>
            <a:ext cx="7040880" cy="274320"/>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*No unsafe output in the small interior reference set; the reference did not converge.</a:t>
            </a:r>
          </a:p>
        </p:txBody>
      </p:sp>
      <p:sp>
        <p:nvSpPr>
          <p:cNvPr id="35" name="TextBox 34"/>
          <p:cNvSpPr txBox="1"/>
          <p:nvPr/>
        </p:nvSpPr>
        <p:spPr>
          <a:xfrm>
            <a:off x="749808" y="5742432"/>
            <a:ext cx="7040880" cy="320040"/>
          </a:xfrm>
          <a:prstGeom prst="rect">
            <a:avLst/>
          </a:prstGeom>
          <a:noFill/>
        </p:spPr>
        <p:txBody>
          <a:bodyPr wrap="square" anchor="t" lIns="0" rIns="0" tIns="0" bIns="0">
            <a:noAutofit/>
          </a:bodyPr>
          <a:lstStyle/>
          <a:p>
            <a:pPr algn="l">
              <a:lnSpc>
                <a:spcPct val="110000"/>
              </a:lnSpc>
              <a:spcAft>
                <a:spcPts val="0"/>
              </a:spcAft>
            </a:pPr>
            <a:r>
              <a:rPr sz="1800" b="1">
                <a:solidFill>
                  <a:srgbClr val="0B0B0B"/>
                </a:solidFill>
                <a:latin typeface="Avenir Next"/>
              </a:rPr>
              <a:t>Global solves and local servo steps have different contracts.</a:t>
            </a:r>
          </a:p>
        </p:txBody>
      </p:sp>
      <p:sp>
        <p:nvSpPr>
          <p:cNvPr id="36" name="TextBox 35"/>
          <p:cNvSpPr txBox="1"/>
          <p:nvPr/>
        </p:nvSpPr>
        <p:spPr>
          <a:xfrm>
            <a:off x="7635240" y="5715000"/>
            <a:ext cx="3474720" cy="329184"/>
          </a:xfrm>
          <a:prstGeom prst="rect">
            <a:avLst/>
          </a:prstGeom>
          <a:noFill/>
        </p:spPr>
        <p:txBody>
          <a:bodyPr wrap="square" anchor="t" lIns="0" rIns="0" tIns="0" bIns="0">
            <a:noAutofit/>
          </a:bodyPr>
          <a:lstStyle/>
          <a:p>
            <a:pPr algn="r">
              <a:lnSpc>
                <a:spcPct val="94000"/>
              </a:lnSpc>
              <a:spcAft>
                <a:spcPts val="0"/>
              </a:spcAft>
            </a:pPr>
            <a:r>
              <a:rPr sz="2700" b="1">
                <a:solidFill>
                  <a:srgbClr val="0B0B0B"/>
                </a:solidFill>
                <a:latin typeface="DIN Condensed"/>
              </a:rPr>
              <a:t>230.3 ÷ 0.080 = 2,878.75</a:t>
            </a:r>
          </a:p>
        </p:txBody>
      </p:sp>
      <p:sp>
        <p:nvSpPr>
          <p:cNvPr id="37" name="TextBox 36"/>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Offline canonical benchmark</a:t>
            </a:r>
          </a:p>
        </p:txBody>
      </p:sp>
      <p:sp>
        <p:nvSpPr>
          <p:cNvPr id="38" name="TextBox 37"/>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Appendix · Research scale and secondary evidence</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15</a:t>
            </a:r>
          </a:p>
        </p:txBody>
      </p:sp>
      <p:sp>
        <p:nvSpPr>
          <p:cNvPr id="5" name="TextBox 4"/>
          <p:cNvSpPr txBox="1"/>
          <p:nvPr/>
        </p:nvSpPr>
        <p:spPr>
          <a:xfrm>
            <a:off x="749808" y="1389888"/>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9,312</a:t>
            </a:r>
          </a:p>
        </p:txBody>
      </p:sp>
      <p:sp>
        <p:nvSpPr>
          <p:cNvPr id="6" name="TextBox 5"/>
          <p:cNvSpPr txBox="1"/>
          <p:nvPr/>
        </p:nvSpPr>
        <p:spPr>
          <a:xfrm>
            <a:off x="2414016" y="1426464"/>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controller candidates evaluated in six hours</a:t>
            </a:r>
          </a:p>
        </p:txBody>
      </p:sp>
      <p:sp>
        <p:nvSpPr>
          <p:cNvPr id="7" name="TextBox 6"/>
          <p:cNvSpPr txBox="1"/>
          <p:nvPr/>
        </p:nvSpPr>
        <p:spPr>
          <a:xfrm>
            <a:off x="2414016" y="2011680"/>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simulation only</a:t>
            </a:r>
          </a:p>
        </p:txBody>
      </p:sp>
      <p:cxnSp>
        <p:nvCxnSpPr>
          <p:cNvPr id="8" name="Connector 7"/>
          <p:cNvCxnSpPr/>
          <p:nvPr/>
        </p:nvCxnSpPr>
        <p:spPr>
          <a:xfrm>
            <a:off x="749808" y="2450591"/>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54496" y="1389888"/>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2.38%</a:t>
            </a:r>
          </a:p>
        </p:txBody>
      </p:sp>
      <p:sp>
        <p:nvSpPr>
          <p:cNvPr id="10" name="TextBox 9"/>
          <p:cNvSpPr txBox="1"/>
          <p:nvPr/>
        </p:nvSpPr>
        <p:spPr>
          <a:xfrm>
            <a:off x="7918704" y="1426464"/>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failure rate in the selected simulation campaign</a:t>
            </a:r>
          </a:p>
        </p:txBody>
      </p:sp>
      <p:sp>
        <p:nvSpPr>
          <p:cNvPr id="11" name="TextBox 10"/>
          <p:cNvSpPr txBox="1"/>
          <p:nvPr/>
        </p:nvSpPr>
        <p:spPr>
          <a:xfrm>
            <a:off x="7918704" y="2011680"/>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not a hardware default</a:t>
            </a:r>
          </a:p>
        </p:txBody>
      </p:sp>
      <p:cxnSp>
        <p:nvCxnSpPr>
          <p:cNvPr id="12" name="Connector 11"/>
          <p:cNvCxnSpPr/>
          <p:nvPr/>
        </p:nvCxnSpPr>
        <p:spPr>
          <a:xfrm>
            <a:off x="6254496" y="2450591"/>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2798064"/>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22</a:t>
            </a:r>
          </a:p>
        </p:txBody>
      </p:sp>
      <p:sp>
        <p:nvSpPr>
          <p:cNvPr id="14" name="TextBox 13"/>
          <p:cNvSpPr txBox="1"/>
          <p:nvPr/>
        </p:nvSpPr>
        <p:spPr>
          <a:xfrm>
            <a:off x="2414016" y="2834640"/>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attempts before the v29 adaptive campaign paused</a:t>
            </a:r>
          </a:p>
        </p:txBody>
      </p:sp>
      <p:sp>
        <p:nvSpPr>
          <p:cNvPr id="15" name="TextBox 14"/>
          <p:cNvSpPr txBox="1"/>
          <p:nvPr/>
        </p:nvSpPr>
        <p:spPr>
          <a:xfrm>
            <a:off x="2414016" y="3419856"/>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no-progress stop</a:t>
            </a:r>
          </a:p>
        </p:txBody>
      </p:sp>
      <p:cxnSp>
        <p:nvCxnSpPr>
          <p:cNvPr id="16" name="Connector 15"/>
          <p:cNvCxnSpPr/>
          <p:nvPr/>
        </p:nvCxnSpPr>
        <p:spPr>
          <a:xfrm>
            <a:off x="749808" y="3858768"/>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54496" y="2798064"/>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77.6%</a:t>
            </a:r>
          </a:p>
        </p:txBody>
      </p:sp>
      <p:sp>
        <p:nvSpPr>
          <p:cNvPr id="18" name="TextBox 17"/>
          <p:cNvSpPr txBox="1"/>
          <p:nvPr/>
        </p:nvSpPr>
        <p:spPr>
          <a:xfrm>
            <a:off x="7918704" y="2834640"/>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active-motion windows in real training data</a:t>
            </a:r>
          </a:p>
        </p:txBody>
      </p:sp>
      <p:sp>
        <p:nvSpPr>
          <p:cNvPr id="19" name="TextBox 18"/>
          <p:cNvSpPr txBox="1"/>
          <p:nvPr/>
        </p:nvSpPr>
        <p:spPr>
          <a:xfrm>
            <a:off x="7918704" y="3419856"/>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v30 audit</a:t>
            </a:r>
          </a:p>
        </p:txBody>
      </p:sp>
      <p:cxnSp>
        <p:nvCxnSpPr>
          <p:cNvPr id="20" name="Connector 19"/>
          <p:cNvCxnSpPr/>
          <p:nvPr/>
        </p:nvCxnSpPr>
        <p:spPr>
          <a:xfrm>
            <a:off x="6254496" y="3858768"/>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4206240"/>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754 GB</a:t>
            </a:r>
          </a:p>
        </p:txBody>
      </p:sp>
      <p:sp>
        <p:nvSpPr>
          <p:cNvPr id="22" name="TextBox 21"/>
          <p:cNvSpPr txBox="1"/>
          <p:nvPr/>
        </p:nvSpPr>
        <p:spPr>
          <a:xfrm>
            <a:off x="2414016" y="4242816"/>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datasets, models, runs, and worktrees inspected</a:t>
            </a:r>
          </a:p>
        </p:txBody>
      </p:sp>
      <p:sp>
        <p:nvSpPr>
          <p:cNvPr id="23" name="TextBox 22"/>
          <p:cNvSpPr txBox="1"/>
          <p:nvPr/>
        </p:nvSpPr>
        <p:spPr>
          <a:xfrm>
            <a:off x="2414016" y="4828031"/>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research store</a:t>
            </a:r>
          </a:p>
        </p:txBody>
      </p:sp>
      <p:cxnSp>
        <p:nvCxnSpPr>
          <p:cNvPr id="24" name="Connector 23"/>
          <p:cNvCxnSpPr/>
          <p:nvPr/>
        </p:nvCxnSpPr>
        <p:spPr>
          <a:xfrm>
            <a:off x="749808" y="5266944"/>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54496" y="4206240"/>
            <a:ext cx="1554480" cy="530352"/>
          </a:xfrm>
          <a:prstGeom prst="rect">
            <a:avLst/>
          </a:prstGeom>
          <a:noFill/>
        </p:spPr>
        <p:txBody>
          <a:bodyPr wrap="square" anchor="t" lIns="0" rIns="0" tIns="0" bIns="0">
            <a:noAutofit/>
          </a:bodyPr>
          <a:lstStyle/>
          <a:p>
            <a:pPr algn="l">
              <a:lnSpc>
                <a:spcPct val="94000"/>
              </a:lnSpc>
              <a:spcAft>
                <a:spcPts val="0"/>
              </a:spcAft>
            </a:pPr>
            <a:r>
              <a:rPr sz="3500" b="1">
                <a:solidFill>
                  <a:srgbClr val="0B0B0B"/>
                </a:solidFill>
                <a:latin typeface="DIN Condensed"/>
              </a:rPr>
              <a:t>25,756</a:t>
            </a:r>
          </a:p>
        </p:txBody>
      </p:sp>
      <p:sp>
        <p:nvSpPr>
          <p:cNvPr id="26" name="TextBox 25"/>
          <p:cNvSpPr txBox="1"/>
          <p:nvPr/>
        </p:nvSpPr>
        <p:spPr>
          <a:xfrm>
            <a:off x="7918704" y="4242816"/>
            <a:ext cx="3337560" cy="493776"/>
          </a:xfrm>
          <a:prstGeom prst="rect">
            <a:avLst/>
          </a:prstGeom>
          <a:noFill/>
        </p:spPr>
        <p:txBody>
          <a:bodyPr wrap="square" anchor="t" lIns="0" rIns="0" tIns="0" bIns="0">
            <a:noAutofit/>
          </a:bodyPr>
          <a:lstStyle/>
          <a:p>
            <a:pPr algn="l">
              <a:lnSpc>
                <a:spcPct val="105000"/>
              </a:lnSpc>
              <a:spcAft>
                <a:spcPts val="0"/>
              </a:spcAft>
            </a:pPr>
            <a:r>
              <a:rPr sz="1600" b="1">
                <a:solidFill>
                  <a:srgbClr val="0B0B0B"/>
                </a:solidFill>
                <a:latin typeface="Avenir Next"/>
              </a:rPr>
              <a:t>lines removed from the focused demo branch</a:t>
            </a:r>
          </a:p>
        </p:txBody>
      </p:sp>
      <p:sp>
        <p:nvSpPr>
          <p:cNvPr id="27" name="TextBox 26"/>
          <p:cNvSpPr txBox="1"/>
          <p:nvPr/>
        </p:nvSpPr>
        <p:spPr>
          <a:xfrm>
            <a:off x="7918704" y="4828031"/>
            <a:ext cx="3337560" cy="219456"/>
          </a:xfrm>
          <a:prstGeom prst="rect">
            <a:avLst/>
          </a:prstGeom>
          <a:noFill/>
        </p:spPr>
        <p:txBody>
          <a:bodyPr wrap="square" anchor="t" lIns="0" rIns="0" tIns="0" bIns="0">
            <a:noAutofit/>
          </a:bodyPr>
          <a:lstStyle/>
          <a:p>
            <a:pPr algn="l">
              <a:lnSpc>
                <a:spcPct val="100000"/>
              </a:lnSpc>
              <a:spcAft>
                <a:spcPts val="0"/>
              </a:spcAft>
            </a:pPr>
            <a:r>
              <a:rPr sz="1150" b="1">
                <a:solidFill>
                  <a:srgbClr val="64645F"/>
                </a:solidFill>
                <a:latin typeface="Avenir Next"/>
              </a:rPr>
              <a:t>183 files</a:t>
            </a:r>
          </a:p>
        </p:txBody>
      </p:sp>
      <p:cxnSp>
        <p:nvCxnSpPr>
          <p:cNvPr id="28" name="Connector 27"/>
          <p:cNvCxnSpPr/>
          <p:nvPr/>
        </p:nvCxnSpPr>
        <p:spPr>
          <a:xfrm>
            <a:off x="6254496" y="5266944"/>
            <a:ext cx="504748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Secondary context; these values are not one end-to-end score</a:t>
            </a:r>
          </a:p>
        </p:txBody>
      </p:sp>
      <p:sp>
        <p:nvSpPr>
          <p:cNvPr id="30" name="TextBox 29"/>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3EF"/>
        </a:solidFill>
        <a:effectLst/>
      </p:bgPr>
    </p:bg>
    <p:spTree>
      <p:nvGrpSpPr>
        <p:cNvPr id="1" name=""/>
        <p:cNvGrpSpPr/>
        <p:nvPr/>
      </p:nvGrpSpPr>
      <p:grpSpPr/>
      <p:sp>
        <p:nvSpPr>
          <p:cNvPr id="2" name="TextBox 1"/>
          <p:cNvSpPr txBox="1"/>
          <p:nvPr/>
        </p:nvSpPr>
        <p:spPr>
          <a:xfrm>
            <a:off x="640080" y="411480"/>
            <a:ext cx="10561320" cy="640080"/>
          </a:xfrm>
          <a:prstGeom prst="rect">
            <a:avLst/>
          </a:prstGeom>
          <a:noFill/>
        </p:spPr>
        <p:txBody>
          <a:bodyPr wrap="square" anchor="t" lIns="0" rIns="0" tIns="0" bIns="0">
            <a:noAutofit/>
          </a:bodyPr>
          <a:lstStyle/>
          <a:p>
            <a:pPr algn="l">
              <a:lnSpc>
                <a:spcPct val="100000"/>
              </a:lnSpc>
              <a:spcAft>
                <a:spcPts val="0"/>
              </a:spcAft>
            </a:pPr>
            <a:r>
              <a:rPr sz="3400" b="1">
                <a:solidFill>
                  <a:srgbClr val="0B0B0B"/>
                </a:solidFill>
                <a:latin typeface="Avenir Next"/>
              </a:rPr>
              <a:t>Appendix · Evidence and anticipated questions</a:t>
            </a:r>
          </a:p>
        </p:txBody>
      </p:sp>
      <p:cxnSp>
        <p:nvCxnSpPr>
          <p:cNvPr id="3" name="Connector 2"/>
          <p:cNvCxnSpPr/>
          <p:nvPr/>
        </p:nvCxnSpPr>
        <p:spPr>
          <a:xfrm>
            <a:off x="640080" y="1088136"/>
            <a:ext cx="10899648" cy="0"/>
          </a:xfrm>
          <a:prstGeom prst="line">
            <a:avLst/>
          </a:prstGeom>
          <a:ln w="10160">
            <a:solidFill>
              <a:srgbClr val="D7D6C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55680" y="502920"/>
            <a:ext cx="365760" cy="219456"/>
          </a:xfrm>
          <a:prstGeom prst="rect">
            <a:avLst/>
          </a:prstGeom>
          <a:noFill/>
        </p:spPr>
        <p:txBody>
          <a:bodyPr wrap="square" anchor="t" lIns="0" rIns="0" tIns="0" bIns="0">
            <a:noAutofit/>
          </a:bodyPr>
          <a:lstStyle/>
          <a:p>
            <a:pPr algn="r">
              <a:lnSpc>
                <a:spcPct val="100000"/>
              </a:lnSpc>
              <a:spcAft>
                <a:spcPts val="0"/>
              </a:spcAft>
            </a:pPr>
            <a:r>
              <a:rPr sz="1150" b="1">
                <a:solidFill>
                  <a:srgbClr val="64645F"/>
                </a:solidFill>
                <a:latin typeface="Avenir Next"/>
              </a:rPr>
              <a:t>16</a:t>
            </a:r>
          </a:p>
        </p:txBody>
      </p:sp>
      <p:sp>
        <p:nvSpPr>
          <p:cNvPr id="5" name="Rectangle 4"/>
          <p:cNvSpPr/>
          <p:nvPr/>
        </p:nvSpPr>
        <p:spPr>
          <a:xfrm>
            <a:off x="749808" y="1353312"/>
            <a:ext cx="1783080" cy="329184"/>
          </a:xfrm>
          <a:prstGeom prst="rect">
            <a:avLst/>
          </a:prstGeom>
          <a:solidFill>
            <a:srgbClr val="0B0B0B"/>
          </a:solidFill>
          <a:ln w="12700">
            <a:solidFill>
              <a:srgbClr val="0B0B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403604"/>
            <a:ext cx="1636776" cy="201168"/>
          </a:xfrm>
          <a:prstGeom prst="rect">
            <a:avLst/>
          </a:prstGeom>
          <a:noFill/>
        </p:spPr>
        <p:txBody>
          <a:bodyPr wrap="square" anchor="t" lIns="0" rIns="0" tIns="0" bIns="0">
            <a:noAutofit/>
          </a:bodyPr>
          <a:lstStyle/>
          <a:p>
            <a:pPr algn="ctr">
              <a:lnSpc>
                <a:spcPct val="100000"/>
              </a:lnSpc>
              <a:spcAft>
                <a:spcPts val="0"/>
              </a:spcAft>
            </a:pPr>
            <a:r>
              <a:rPr sz="1250" b="1">
                <a:solidFill>
                  <a:srgbClr val="FFFFFF"/>
                </a:solidFill>
                <a:latin typeface="DIN Condensed"/>
              </a:rPr>
              <a:t>DEMONSTRATED</a:t>
            </a:r>
          </a:p>
        </p:txBody>
      </p:sp>
      <p:sp>
        <p:nvSpPr>
          <p:cNvPr id="7" name="TextBox 6"/>
          <p:cNvSpPr txBox="1"/>
          <p:nvPr/>
        </p:nvSpPr>
        <p:spPr>
          <a:xfrm>
            <a:off x="2788920" y="1380744"/>
            <a:ext cx="3566160" cy="256032"/>
          </a:xfrm>
          <a:prstGeom prst="rect">
            <a:avLst/>
          </a:prstGeom>
          <a:noFill/>
        </p:spPr>
        <p:txBody>
          <a:bodyPr wrap="square" anchor="t" lIns="0" rIns="0" tIns="0" bIns="0">
            <a:noAutofit/>
          </a:bodyPr>
          <a:lstStyle/>
          <a:p>
            <a:pPr algn="l">
              <a:lnSpc>
                <a:spcPct val="108000"/>
              </a:lnSpc>
              <a:spcAft>
                <a:spcPts val="0"/>
              </a:spcAft>
            </a:pPr>
            <a:r>
              <a:rPr sz="1550" b="0">
                <a:solidFill>
                  <a:srgbClr val="0B0B0B"/>
                </a:solidFill>
                <a:latin typeface="Avenir Next"/>
              </a:rPr>
              <a:t>Observed on physical hardware</a:t>
            </a:r>
          </a:p>
        </p:txBody>
      </p:sp>
      <p:sp>
        <p:nvSpPr>
          <p:cNvPr id="8" name="Rectangle 7"/>
          <p:cNvSpPr/>
          <p:nvPr/>
        </p:nvSpPr>
        <p:spPr>
          <a:xfrm>
            <a:off x="749808" y="1929384"/>
            <a:ext cx="1783080" cy="329184"/>
          </a:xfrm>
          <a:prstGeom prst="rect">
            <a:avLst/>
          </a:prstGeom>
          <a:solidFill>
            <a:srgbClr val="FFFFFF"/>
          </a:solidFill>
          <a:ln w="12700">
            <a:solidFill>
              <a:srgbClr val="646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79676"/>
            <a:ext cx="1636776" cy="201168"/>
          </a:xfrm>
          <a:prstGeom prst="rect">
            <a:avLst/>
          </a:prstGeom>
          <a:noFill/>
        </p:spPr>
        <p:txBody>
          <a:bodyPr wrap="square" anchor="t" lIns="0" rIns="0" tIns="0" bIns="0">
            <a:noAutofit/>
          </a:bodyPr>
          <a:lstStyle/>
          <a:p>
            <a:pPr algn="ctr">
              <a:lnSpc>
                <a:spcPct val="100000"/>
              </a:lnSpc>
              <a:spcAft>
                <a:spcPts val="0"/>
              </a:spcAft>
            </a:pPr>
            <a:r>
              <a:rPr sz="1250" b="1">
                <a:solidFill>
                  <a:srgbClr val="64645F"/>
                </a:solidFill>
                <a:latin typeface="DIN Condensed"/>
              </a:rPr>
              <a:t>ARTIFACT-VERIFIED</a:t>
            </a:r>
          </a:p>
        </p:txBody>
      </p:sp>
      <p:sp>
        <p:nvSpPr>
          <p:cNvPr id="10" name="TextBox 9"/>
          <p:cNvSpPr txBox="1"/>
          <p:nvPr/>
        </p:nvSpPr>
        <p:spPr>
          <a:xfrm>
            <a:off x="2788920" y="1956815"/>
            <a:ext cx="3566160" cy="256032"/>
          </a:xfrm>
          <a:prstGeom prst="rect">
            <a:avLst/>
          </a:prstGeom>
          <a:noFill/>
        </p:spPr>
        <p:txBody>
          <a:bodyPr wrap="square" anchor="t" lIns="0" rIns="0" tIns="0" bIns="0">
            <a:noAutofit/>
          </a:bodyPr>
          <a:lstStyle/>
          <a:p>
            <a:pPr algn="l">
              <a:lnSpc>
                <a:spcPct val="108000"/>
              </a:lnSpc>
              <a:spcAft>
                <a:spcPts val="0"/>
              </a:spcAft>
            </a:pPr>
            <a:r>
              <a:rPr sz="1550" b="0">
                <a:solidFill>
                  <a:srgbClr val="0B0B0B"/>
                </a:solidFill>
                <a:latin typeface="Avenir Next"/>
              </a:rPr>
              <a:t>Recorded in a manifest or report</a:t>
            </a:r>
          </a:p>
        </p:txBody>
      </p:sp>
      <p:sp>
        <p:nvSpPr>
          <p:cNvPr id="11" name="Rectangle 10"/>
          <p:cNvSpPr/>
          <p:nvPr/>
        </p:nvSpPr>
        <p:spPr>
          <a:xfrm>
            <a:off x="749808" y="2505456"/>
            <a:ext cx="1783080" cy="329184"/>
          </a:xfrm>
          <a:prstGeom prst="rect">
            <a:avLst/>
          </a:prstGeom>
          <a:solidFill>
            <a:srgbClr val="FFFFFF"/>
          </a:solidFill>
          <a:ln w="12700">
            <a:solidFill>
              <a:srgbClr val="646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555748"/>
            <a:ext cx="1636776" cy="201168"/>
          </a:xfrm>
          <a:prstGeom prst="rect">
            <a:avLst/>
          </a:prstGeom>
          <a:noFill/>
        </p:spPr>
        <p:txBody>
          <a:bodyPr wrap="square" anchor="t" lIns="0" rIns="0" tIns="0" bIns="0">
            <a:noAutofit/>
          </a:bodyPr>
          <a:lstStyle/>
          <a:p>
            <a:pPr algn="ctr">
              <a:lnSpc>
                <a:spcPct val="100000"/>
              </a:lnSpc>
              <a:spcAft>
                <a:spcPts val="0"/>
              </a:spcAft>
            </a:pPr>
            <a:r>
              <a:rPr sz="1250" b="1">
                <a:solidFill>
                  <a:srgbClr val="64645F"/>
                </a:solidFill>
                <a:latin typeface="DIN Condensed"/>
              </a:rPr>
              <a:t>SOURCE-VERIFIED</a:t>
            </a:r>
          </a:p>
        </p:txBody>
      </p:sp>
      <p:sp>
        <p:nvSpPr>
          <p:cNvPr id="13" name="TextBox 12"/>
          <p:cNvSpPr txBox="1"/>
          <p:nvPr/>
        </p:nvSpPr>
        <p:spPr>
          <a:xfrm>
            <a:off x="2788920" y="2532888"/>
            <a:ext cx="3566160" cy="256032"/>
          </a:xfrm>
          <a:prstGeom prst="rect">
            <a:avLst/>
          </a:prstGeom>
          <a:noFill/>
        </p:spPr>
        <p:txBody>
          <a:bodyPr wrap="square" anchor="t" lIns="0" rIns="0" tIns="0" bIns="0">
            <a:noAutofit/>
          </a:bodyPr>
          <a:lstStyle/>
          <a:p>
            <a:pPr algn="l">
              <a:lnSpc>
                <a:spcPct val="108000"/>
              </a:lnSpc>
              <a:spcAft>
                <a:spcPts val="0"/>
              </a:spcAft>
            </a:pPr>
            <a:r>
              <a:rPr sz="1550" b="0">
                <a:solidFill>
                  <a:srgbClr val="0B0B0B"/>
                </a:solidFill>
                <a:latin typeface="Avenir Next"/>
              </a:rPr>
              <a:t>Implementation exists in the repository</a:t>
            </a:r>
          </a:p>
        </p:txBody>
      </p:sp>
      <p:sp>
        <p:nvSpPr>
          <p:cNvPr id="14" name="Rectangle 13"/>
          <p:cNvSpPr/>
          <p:nvPr/>
        </p:nvSpPr>
        <p:spPr>
          <a:xfrm>
            <a:off x="749808" y="3081528"/>
            <a:ext cx="1783080" cy="329184"/>
          </a:xfrm>
          <a:prstGeom prst="rect">
            <a:avLst/>
          </a:prstGeom>
          <a:solidFill>
            <a:srgbClr val="FFFFFF"/>
          </a:solidFill>
          <a:ln w="12700">
            <a:solidFill>
              <a:srgbClr val="64645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131820"/>
            <a:ext cx="1636776" cy="201168"/>
          </a:xfrm>
          <a:prstGeom prst="rect">
            <a:avLst/>
          </a:prstGeom>
          <a:noFill/>
        </p:spPr>
        <p:txBody>
          <a:bodyPr wrap="square" anchor="t" lIns="0" rIns="0" tIns="0" bIns="0">
            <a:noAutofit/>
          </a:bodyPr>
          <a:lstStyle/>
          <a:p>
            <a:pPr algn="ctr">
              <a:lnSpc>
                <a:spcPct val="100000"/>
              </a:lnSpc>
              <a:spcAft>
                <a:spcPts val="0"/>
              </a:spcAft>
            </a:pPr>
            <a:r>
              <a:rPr sz="1250" b="1">
                <a:solidFill>
                  <a:srgbClr val="64645F"/>
                </a:solidFill>
                <a:latin typeface="DIN Condensed"/>
              </a:rPr>
              <a:t>PENDING</a:t>
            </a:r>
          </a:p>
        </p:txBody>
      </p:sp>
      <p:sp>
        <p:nvSpPr>
          <p:cNvPr id="16" name="TextBox 15"/>
          <p:cNvSpPr txBox="1"/>
          <p:nvPr/>
        </p:nvSpPr>
        <p:spPr>
          <a:xfrm>
            <a:off x="2788920" y="3108960"/>
            <a:ext cx="3566160" cy="256032"/>
          </a:xfrm>
          <a:prstGeom prst="rect">
            <a:avLst/>
          </a:prstGeom>
          <a:noFill/>
        </p:spPr>
        <p:txBody>
          <a:bodyPr wrap="square" anchor="t" lIns="0" rIns="0" tIns="0" bIns="0">
            <a:noAutofit/>
          </a:bodyPr>
          <a:lstStyle/>
          <a:p>
            <a:pPr algn="l">
              <a:lnSpc>
                <a:spcPct val="108000"/>
              </a:lnSpc>
              <a:spcAft>
                <a:spcPts val="0"/>
              </a:spcAft>
            </a:pPr>
            <a:r>
              <a:rPr sz="1550" b="0">
                <a:solidFill>
                  <a:srgbClr val="0B0B0B"/>
                </a:solidFill>
                <a:latin typeface="Avenir Next"/>
              </a:rPr>
              <a:t>Implementation exists; physical validation remains</a:t>
            </a:r>
          </a:p>
        </p:txBody>
      </p:sp>
      <p:cxnSp>
        <p:nvCxnSpPr>
          <p:cNvPr id="17" name="Connector 16"/>
          <p:cNvCxnSpPr/>
          <p:nvPr/>
        </p:nvCxnSpPr>
        <p:spPr>
          <a:xfrm>
            <a:off x="6446520" y="1353312"/>
            <a:ext cx="0" cy="4114800"/>
          </a:xfrm>
          <a:prstGeom prst="line">
            <a:avLst/>
          </a:prstGeom>
          <a:ln w="12700">
            <a:solidFill>
              <a:srgbClr val="0B0B0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748272" y="1353312"/>
            <a:ext cx="1920240" cy="292608"/>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Why not deploy the best VLA?</a:t>
            </a:r>
          </a:p>
        </p:txBody>
      </p:sp>
      <p:sp>
        <p:nvSpPr>
          <p:cNvPr id="19" name="TextBox 18"/>
          <p:cNvSpPr txBox="1"/>
          <p:nvPr/>
        </p:nvSpPr>
        <p:spPr>
          <a:xfrm>
            <a:off x="8668512" y="1353312"/>
            <a:ext cx="2578608" cy="53035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It failed baselines, magnitude, consistency, and saturation gates.</a:t>
            </a:r>
          </a:p>
        </p:txBody>
      </p:sp>
      <p:cxnSp>
        <p:nvCxnSpPr>
          <p:cNvPr id="20" name="Connector 19"/>
          <p:cNvCxnSpPr/>
          <p:nvPr/>
        </p:nvCxnSpPr>
        <p:spPr>
          <a:xfrm>
            <a:off x="6748272" y="1975104"/>
            <a:ext cx="445312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48272" y="2194560"/>
            <a:ext cx="1920240" cy="292608"/>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Was IK really 2,879× faster?</a:t>
            </a:r>
          </a:p>
        </p:txBody>
      </p:sp>
      <p:sp>
        <p:nvSpPr>
          <p:cNvPr id="22" name="TextBox 21"/>
          <p:cNvSpPr txBox="1"/>
          <p:nvPr/>
        </p:nvSpPr>
        <p:spPr>
          <a:xfrm>
            <a:off x="8668512" y="2194560"/>
            <a:ext cx="2578608" cy="53035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It is a per-call global-solve/local-step gap, not end-to-end speedup.</a:t>
            </a:r>
          </a:p>
        </p:txBody>
      </p:sp>
      <p:cxnSp>
        <p:nvCxnSpPr>
          <p:cNvPr id="23" name="Connector 22"/>
          <p:cNvCxnSpPr/>
          <p:nvPr/>
        </p:nvCxnSpPr>
        <p:spPr>
          <a:xfrm>
            <a:off x="6748272" y="2816352"/>
            <a:ext cx="445312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748272" y="3035808"/>
            <a:ext cx="1920240" cy="292608"/>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Why use simulation?</a:t>
            </a:r>
          </a:p>
        </p:txBody>
      </p:sp>
      <p:sp>
        <p:nvSpPr>
          <p:cNvPr id="25" name="TextBox 24"/>
          <p:cNvSpPr txBox="1"/>
          <p:nvPr/>
        </p:nvSpPr>
        <p:spPr>
          <a:xfrm>
            <a:off x="8668512" y="3035808"/>
            <a:ext cx="2578608" cy="53035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It increased coverage without treating simulation as physical proof.</a:t>
            </a:r>
          </a:p>
        </p:txBody>
      </p:sp>
      <p:cxnSp>
        <p:nvCxnSpPr>
          <p:cNvPr id="26" name="Connector 25"/>
          <p:cNvCxnSpPr/>
          <p:nvPr/>
        </p:nvCxnSpPr>
        <p:spPr>
          <a:xfrm>
            <a:off x="6748272" y="3657600"/>
            <a:ext cx="445312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748272" y="3877056"/>
            <a:ext cx="1920240" cy="292608"/>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Why interception, not grasping?</a:t>
            </a:r>
          </a:p>
        </p:txBody>
      </p:sp>
      <p:sp>
        <p:nvSpPr>
          <p:cNvPr id="28" name="TextBox 27"/>
          <p:cNvSpPr txBox="1"/>
          <p:nvPr/>
        </p:nvSpPr>
        <p:spPr>
          <a:xfrm>
            <a:off x="8668512" y="3877056"/>
            <a:ext cx="2578608" cy="53035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The current target is controlled palm contact.</a:t>
            </a:r>
          </a:p>
        </p:txBody>
      </p:sp>
      <p:cxnSp>
        <p:nvCxnSpPr>
          <p:cNvPr id="29" name="Connector 28"/>
          <p:cNvCxnSpPr/>
          <p:nvPr/>
        </p:nvCxnSpPr>
        <p:spPr>
          <a:xfrm>
            <a:off x="6748272" y="4498848"/>
            <a:ext cx="445312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48272" y="4718304"/>
            <a:ext cx="1920240" cy="292608"/>
          </a:xfrm>
          <a:prstGeom prst="rect">
            <a:avLst/>
          </a:prstGeom>
          <a:noFill/>
        </p:spPr>
        <p:txBody>
          <a:bodyPr wrap="square" anchor="t" lIns="0" rIns="0" tIns="0" bIns="0">
            <a:noAutofit/>
          </a:bodyPr>
          <a:lstStyle/>
          <a:p>
            <a:pPr algn="l">
              <a:lnSpc>
                <a:spcPct val="105000"/>
              </a:lnSpc>
              <a:spcAft>
                <a:spcPts val="0"/>
              </a:spcAft>
            </a:pPr>
            <a:r>
              <a:rPr sz="1550" b="1">
                <a:solidFill>
                  <a:srgbClr val="0B0B0B"/>
                </a:solidFill>
                <a:latin typeface="Avenir Next"/>
              </a:rPr>
              <a:t>What remains?</a:t>
            </a:r>
          </a:p>
        </p:txBody>
      </p:sp>
      <p:sp>
        <p:nvSpPr>
          <p:cNvPr id="31" name="TextBox 30"/>
          <p:cNvSpPr txBox="1"/>
          <p:nvPr/>
        </p:nvSpPr>
        <p:spPr>
          <a:xfrm>
            <a:off x="8668512" y="4718304"/>
            <a:ext cx="2578608" cy="530352"/>
          </a:xfrm>
          <a:prstGeom prst="rect">
            <a:avLst/>
          </a:prstGeom>
          <a:noFill/>
        </p:spPr>
        <p:txBody>
          <a:bodyPr wrap="square" anchor="t" lIns="0" rIns="0" tIns="0" bIns="0">
            <a:noAutofit/>
          </a:bodyPr>
          <a:lstStyle/>
          <a:p>
            <a:pPr algn="l">
              <a:lnSpc>
                <a:spcPct val="108000"/>
              </a:lnSpc>
              <a:spcAft>
                <a:spcPts val="0"/>
              </a:spcAft>
            </a:pPr>
            <a:r>
              <a:rPr sz="1450" b="0">
                <a:solidFill>
                  <a:srgbClr val="64645F"/>
                </a:solidFill>
                <a:latin typeface="Avenir Next"/>
              </a:rPr>
              <a:t>Repeatable fast tracking, induced fault tests, and bounded physical interception.</a:t>
            </a:r>
          </a:p>
        </p:txBody>
      </p:sp>
      <p:cxnSp>
        <p:nvCxnSpPr>
          <p:cNvPr id="32" name="Connector 31"/>
          <p:cNvCxnSpPr/>
          <p:nvPr/>
        </p:nvCxnSpPr>
        <p:spPr>
          <a:xfrm>
            <a:off x="6748272" y="5340096"/>
            <a:ext cx="4453128" cy="0"/>
          </a:xfrm>
          <a:prstGeom prst="line">
            <a:avLst/>
          </a:prstGeom>
          <a:ln w="8890">
            <a:solidFill>
              <a:srgbClr val="D7D6C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473952"/>
            <a:ext cx="9235440" cy="182880"/>
          </a:xfrm>
          <a:prstGeom prst="rect">
            <a:avLst/>
          </a:prstGeom>
          <a:noFill/>
        </p:spPr>
        <p:txBody>
          <a:bodyPr wrap="square" anchor="t" lIns="0" rIns="0" tIns="0" bIns="0">
            <a:noAutofit/>
          </a:bodyPr>
          <a:lstStyle/>
          <a:p>
            <a:pPr algn="l">
              <a:lnSpc>
                <a:spcPct val="100000"/>
              </a:lnSpc>
              <a:spcAft>
                <a:spcPts val="0"/>
              </a:spcAft>
            </a:pPr>
            <a:r>
              <a:rPr sz="1080" b="1">
                <a:solidFill>
                  <a:srgbClr val="64645F"/>
                </a:solidFill>
                <a:latin typeface="Avenir Next"/>
              </a:rPr>
              <a:t>Reactive Q&amp;A appendix</a:t>
            </a:r>
          </a:p>
        </p:txBody>
      </p:sp>
      <p:sp>
        <p:nvSpPr>
          <p:cNvPr id="34" name="TextBox 33"/>
          <p:cNvSpPr txBox="1"/>
          <p:nvPr/>
        </p:nvSpPr>
        <p:spPr>
          <a:xfrm>
            <a:off x="11155680" y="6446520"/>
            <a:ext cx="365760" cy="182880"/>
          </a:xfrm>
          <a:prstGeom prst="rect">
            <a:avLst/>
          </a:prstGeom>
          <a:noFill/>
        </p:spPr>
        <p:txBody>
          <a:bodyPr wrap="square" anchor="t" lIns="0" rIns="0" tIns="0" bIns="0">
            <a:noAutofit/>
          </a:bodyPr>
          <a:lstStyle/>
          <a:p>
            <a:pPr algn="r">
              <a:lnSpc>
                <a:spcPct val="100000"/>
              </a:lnSpc>
              <a:spcAft>
                <a:spcPts val="0"/>
              </a:spcAft>
            </a:pPr>
            <a:r>
              <a:rPr sz="1080" b="1">
                <a:solidFill>
                  <a:srgbClr val="64645F"/>
                </a:solidFill>
                <a:latin typeface="Avenir Next"/>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Moving-Object Interception with a Unitree G1</dc:title>
  <dc:subject>UC Santa Cruz Summer AI Academy final presentation</dc:subject>
  <dc:creator>[Replace with four presenter names]</dc:creator>
  <cp:keywords/>
  <dc:description>Evidence-backed presentation generated from docs/ and docs/presentation/. Real images are labeled as XR demonstration data. Replace presenter identity fields.</dc:description>
  <cp:lastModifiedBy>Steve Canny</cp:lastModifiedBy>
  <cp:revision>1</cp:revision>
  <dcterms:created xsi:type="dcterms:W3CDTF">2013-01-27T09:14:16Z</dcterms:created>
  <dcterms:modified xsi:type="dcterms:W3CDTF">2013-01-27T09:15:58Z</dcterms:modified>
  <cp:category/>
</cp:coreProperties>
</file>